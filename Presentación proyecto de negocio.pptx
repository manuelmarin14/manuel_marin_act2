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lacial Indifference Bold" charset="1" panose="00000800000000000000"/>
      <p:regular r:id="rId16"/>
    </p:embeddedFont>
    <p:embeddedFont>
      <p:font typeface="Glacial Indifference" charset="1" panose="000000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2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982806">
            <a:off x="720300" y="6421716"/>
            <a:ext cx="8842272" cy="11861584"/>
          </a:xfrm>
          <a:custGeom>
            <a:avLst/>
            <a:gdLst/>
            <a:ahLst/>
            <a:cxnLst/>
            <a:rect r="r" b="b" t="t" l="l"/>
            <a:pathLst>
              <a:path h="11861584" w="8842272">
                <a:moveTo>
                  <a:pt x="0" y="0"/>
                </a:moveTo>
                <a:lnTo>
                  <a:pt x="8842272" y="0"/>
                </a:lnTo>
                <a:lnTo>
                  <a:pt x="8842272" y="11861584"/>
                </a:lnTo>
                <a:lnTo>
                  <a:pt x="0" y="11861584"/>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6501204">
            <a:off x="11197237" y="-4878554"/>
            <a:ext cx="8807178" cy="11814508"/>
          </a:xfrm>
          <a:custGeom>
            <a:avLst/>
            <a:gdLst/>
            <a:ahLst/>
            <a:cxnLst/>
            <a:rect r="r" b="b" t="t" l="l"/>
            <a:pathLst>
              <a:path h="11814508" w="8807178">
                <a:moveTo>
                  <a:pt x="0" y="0"/>
                </a:moveTo>
                <a:lnTo>
                  <a:pt x="8807178" y="0"/>
                </a:lnTo>
                <a:lnTo>
                  <a:pt x="8807178" y="11814508"/>
                </a:lnTo>
                <a:lnTo>
                  <a:pt x="0" y="11814508"/>
                </a:lnTo>
                <a:lnTo>
                  <a:pt x="0" y="0"/>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571821">
            <a:off x="10628437" y="8363453"/>
            <a:ext cx="5947318" cy="7978109"/>
          </a:xfrm>
          <a:custGeom>
            <a:avLst/>
            <a:gdLst/>
            <a:ahLst/>
            <a:cxnLst/>
            <a:rect r="r" b="b" t="t" l="l"/>
            <a:pathLst>
              <a:path h="7978109" w="5947318">
                <a:moveTo>
                  <a:pt x="0" y="0"/>
                </a:moveTo>
                <a:lnTo>
                  <a:pt x="5947318" y="0"/>
                </a:lnTo>
                <a:lnTo>
                  <a:pt x="5947318" y="7978110"/>
                </a:lnTo>
                <a:lnTo>
                  <a:pt x="0" y="79781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false" flipV="false" rot="-5114765">
            <a:off x="12562314" y="7042396"/>
            <a:ext cx="8542938" cy="7393525"/>
          </a:xfrm>
          <a:custGeom>
            <a:avLst/>
            <a:gdLst/>
            <a:ahLst/>
            <a:cxnLst/>
            <a:rect r="r" b="b" t="t" l="l"/>
            <a:pathLst>
              <a:path h="7393525" w="8542938">
                <a:moveTo>
                  <a:pt x="0" y="0"/>
                </a:moveTo>
                <a:lnTo>
                  <a:pt x="8542939" y="0"/>
                </a:lnTo>
                <a:lnTo>
                  <a:pt x="8542939" y="7393524"/>
                </a:lnTo>
                <a:lnTo>
                  <a:pt x="0" y="73935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5058328">
            <a:off x="12022587" y="-5613490"/>
            <a:ext cx="7156478" cy="6935278"/>
          </a:xfrm>
          <a:custGeom>
            <a:avLst/>
            <a:gdLst/>
            <a:ahLst/>
            <a:cxnLst/>
            <a:rect r="r" b="b" t="t" l="l"/>
            <a:pathLst>
              <a:path h="6935278" w="7156478">
                <a:moveTo>
                  <a:pt x="0" y="0"/>
                </a:moveTo>
                <a:lnTo>
                  <a:pt x="7156478" y="0"/>
                </a:lnTo>
                <a:lnTo>
                  <a:pt x="7156478" y="6935279"/>
                </a:lnTo>
                <a:lnTo>
                  <a:pt x="0" y="6935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3318101">
            <a:off x="-5495165" y="7135533"/>
            <a:ext cx="10117864" cy="10062676"/>
          </a:xfrm>
          <a:custGeom>
            <a:avLst/>
            <a:gdLst/>
            <a:ahLst/>
            <a:cxnLst/>
            <a:rect r="r" b="b" t="t" l="l"/>
            <a:pathLst>
              <a:path h="10062676" w="10117864">
                <a:moveTo>
                  <a:pt x="0" y="0"/>
                </a:moveTo>
                <a:lnTo>
                  <a:pt x="10117864" y="0"/>
                </a:lnTo>
                <a:lnTo>
                  <a:pt x="10117864" y="10062676"/>
                </a:lnTo>
                <a:lnTo>
                  <a:pt x="0" y="100626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6800871">
            <a:off x="-2525850" y="-4360493"/>
            <a:ext cx="8542938" cy="7393525"/>
          </a:xfrm>
          <a:custGeom>
            <a:avLst/>
            <a:gdLst/>
            <a:ahLst/>
            <a:cxnLst/>
            <a:rect r="r" b="b" t="t" l="l"/>
            <a:pathLst>
              <a:path h="7393525" w="8542938">
                <a:moveTo>
                  <a:pt x="0" y="0"/>
                </a:moveTo>
                <a:lnTo>
                  <a:pt x="8542938" y="0"/>
                </a:lnTo>
                <a:lnTo>
                  <a:pt x="8542938" y="7393525"/>
                </a:lnTo>
                <a:lnTo>
                  <a:pt x="0" y="73935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7614552" y="3513988"/>
            <a:ext cx="9644748" cy="5335443"/>
          </a:xfrm>
          <a:custGeom>
            <a:avLst/>
            <a:gdLst/>
            <a:ahLst/>
            <a:cxnLst/>
            <a:rect r="r" b="b" t="t" l="l"/>
            <a:pathLst>
              <a:path h="5335443" w="9644748">
                <a:moveTo>
                  <a:pt x="0" y="0"/>
                </a:moveTo>
                <a:lnTo>
                  <a:pt x="9644748" y="0"/>
                </a:lnTo>
                <a:lnTo>
                  <a:pt x="9644748" y="5335442"/>
                </a:lnTo>
                <a:lnTo>
                  <a:pt x="0" y="5335442"/>
                </a:lnTo>
                <a:lnTo>
                  <a:pt x="0" y="0"/>
                </a:lnTo>
                <a:close/>
              </a:path>
            </a:pathLst>
          </a:custGeom>
          <a:blipFill>
            <a:blip r:embed="rId10"/>
            <a:stretch>
              <a:fillRect l="-4004" t="-12605" r="0" b="-12605"/>
            </a:stretch>
          </a:blipFill>
        </p:spPr>
      </p:sp>
      <p:sp>
        <p:nvSpPr>
          <p:cNvPr name="TextBox 10" id="10"/>
          <p:cNvSpPr txBox="true"/>
          <p:nvPr/>
        </p:nvSpPr>
        <p:spPr>
          <a:xfrm rot="0">
            <a:off x="1745619" y="942975"/>
            <a:ext cx="15513681" cy="673498"/>
          </a:xfrm>
          <a:prstGeom prst="rect">
            <a:avLst/>
          </a:prstGeom>
        </p:spPr>
        <p:txBody>
          <a:bodyPr anchor="t" rtlCol="false" tIns="0" lIns="0" bIns="0" rIns="0">
            <a:spAutoFit/>
          </a:bodyPr>
          <a:lstStyle/>
          <a:p>
            <a:pPr algn="l">
              <a:lnSpc>
                <a:spcPts val="5403"/>
              </a:lnSpc>
              <a:spcBef>
                <a:spcPct val="0"/>
              </a:spcBef>
            </a:pPr>
            <a:r>
              <a:rPr lang="en-US" b="true" sz="3859" spc="38">
                <a:solidFill>
                  <a:srgbClr val="000000"/>
                </a:solidFill>
                <a:latin typeface="Glacial Indifference Bold"/>
                <a:ea typeface="Glacial Indifference Bold"/>
                <a:cs typeface="Glacial Indifference Bold"/>
                <a:sym typeface="Glacial Indifference Bold"/>
              </a:rPr>
              <a:t>Business Trip Proposa</a:t>
            </a:r>
            <a:r>
              <a:rPr lang="en-US" b="true" sz="3859" spc="38">
                <a:solidFill>
                  <a:srgbClr val="000000"/>
                </a:solidFill>
                <a:latin typeface="Glacial Indifference Bold"/>
                <a:ea typeface="Glacial Indifference Bold"/>
                <a:cs typeface="Glacial Indifference Bold"/>
                <a:sym typeface="Glacial Indifference Bold"/>
              </a:rPr>
              <a:t>l: Exploring Innovation in Silicon Valley.</a:t>
            </a:r>
          </a:p>
        </p:txBody>
      </p:sp>
      <p:sp>
        <p:nvSpPr>
          <p:cNvPr name="TextBox 11" id="11"/>
          <p:cNvSpPr txBox="true"/>
          <p:nvPr/>
        </p:nvSpPr>
        <p:spPr>
          <a:xfrm rot="0">
            <a:off x="1780809" y="2098928"/>
            <a:ext cx="10463015" cy="673498"/>
          </a:xfrm>
          <a:prstGeom prst="rect">
            <a:avLst/>
          </a:prstGeom>
        </p:spPr>
        <p:txBody>
          <a:bodyPr anchor="t" rtlCol="false" tIns="0" lIns="0" bIns="0" rIns="0">
            <a:spAutoFit/>
          </a:bodyPr>
          <a:lstStyle/>
          <a:p>
            <a:pPr algn="l">
              <a:lnSpc>
                <a:spcPts val="5403"/>
              </a:lnSpc>
              <a:spcBef>
                <a:spcPct val="0"/>
              </a:spcBef>
            </a:pPr>
            <a:r>
              <a:rPr lang="en-US" b="true" sz="3859" spc="38">
                <a:solidFill>
                  <a:srgbClr val="000000"/>
                </a:solidFill>
                <a:latin typeface="Glacial Indifference Bold"/>
                <a:ea typeface="Glacial Indifference Bold"/>
                <a:cs typeface="Glacial Indifference Bold"/>
                <a:sym typeface="Glacial Indifference Bold"/>
              </a:rPr>
              <a:t>A</a:t>
            </a:r>
            <a:r>
              <a:rPr lang="en-US" b="true" sz="3859" spc="38">
                <a:solidFill>
                  <a:srgbClr val="000000"/>
                </a:solidFill>
                <a:latin typeface="Glacial Indifference Bold"/>
                <a:ea typeface="Glacial Indifference Bold"/>
                <a:cs typeface="Glacial Indifference Bold"/>
                <a:sym typeface="Glacial Indifference Bold"/>
              </a:rPr>
              <a:t> Journey to Enhance Our Work Performance.</a:t>
            </a:r>
          </a:p>
        </p:txBody>
      </p:sp>
      <p:sp>
        <p:nvSpPr>
          <p:cNvPr name="TextBox 12" id="12"/>
          <p:cNvSpPr txBox="true"/>
          <p:nvPr/>
        </p:nvSpPr>
        <p:spPr>
          <a:xfrm rot="0">
            <a:off x="1801727" y="3258201"/>
            <a:ext cx="5482729" cy="673498"/>
          </a:xfrm>
          <a:prstGeom prst="rect">
            <a:avLst/>
          </a:prstGeom>
        </p:spPr>
        <p:txBody>
          <a:bodyPr anchor="t" rtlCol="false" tIns="0" lIns="0" bIns="0" rIns="0">
            <a:spAutoFit/>
          </a:bodyPr>
          <a:lstStyle/>
          <a:p>
            <a:pPr algn="l">
              <a:lnSpc>
                <a:spcPts val="5403"/>
              </a:lnSpc>
              <a:spcBef>
                <a:spcPct val="0"/>
              </a:spcBef>
            </a:pPr>
            <a:r>
              <a:rPr lang="en-US" b="true" sz="3859" spc="38">
                <a:solidFill>
                  <a:srgbClr val="000000"/>
                </a:solidFill>
                <a:latin typeface="Glacial Indifference Bold"/>
                <a:ea typeface="Glacial Indifference Bold"/>
                <a:cs typeface="Glacial Indifference Bold"/>
                <a:sym typeface="Glacial Indifference Bold"/>
              </a:rPr>
              <a:t>Manuel Marin Sanchez.</a:t>
            </a:r>
          </a:p>
        </p:txBody>
      </p:sp>
      <p:sp>
        <p:nvSpPr>
          <p:cNvPr name="TextBox 13" id="13"/>
          <p:cNvSpPr txBox="true"/>
          <p:nvPr/>
        </p:nvSpPr>
        <p:spPr>
          <a:xfrm rot="0">
            <a:off x="1745619" y="4637321"/>
            <a:ext cx="2797473" cy="673498"/>
          </a:xfrm>
          <a:prstGeom prst="rect">
            <a:avLst/>
          </a:prstGeom>
        </p:spPr>
        <p:txBody>
          <a:bodyPr anchor="t" rtlCol="false" tIns="0" lIns="0" bIns="0" rIns="0">
            <a:spAutoFit/>
          </a:bodyPr>
          <a:lstStyle/>
          <a:p>
            <a:pPr algn="l">
              <a:lnSpc>
                <a:spcPts val="5403"/>
              </a:lnSpc>
              <a:spcBef>
                <a:spcPct val="0"/>
              </a:spcBef>
            </a:pPr>
            <a:r>
              <a:rPr lang="en-US" b="true" sz="3859" spc="38">
                <a:solidFill>
                  <a:srgbClr val="000000"/>
                </a:solidFill>
                <a:latin typeface="Glacial Indifference Bold"/>
                <a:ea typeface="Glacial Indifference Bold"/>
                <a:cs typeface="Glacial Indifference Bold"/>
                <a:sym typeface="Glacial Indifference Bold"/>
              </a:rPr>
              <a:t>08/09/2026</a:t>
            </a:r>
          </a:p>
        </p:txBody>
      </p:sp>
      <p:sp>
        <p:nvSpPr>
          <p:cNvPr name="TextBox 14" id="14"/>
          <p:cNvSpPr txBox="true"/>
          <p:nvPr/>
        </p:nvSpPr>
        <p:spPr>
          <a:xfrm rot="0">
            <a:off x="1745619" y="5670843"/>
            <a:ext cx="4323259" cy="673498"/>
          </a:xfrm>
          <a:prstGeom prst="rect">
            <a:avLst/>
          </a:prstGeom>
        </p:spPr>
        <p:txBody>
          <a:bodyPr anchor="t" rtlCol="false" tIns="0" lIns="0" bIns="0" rIns="0">
            <a:spAutoFit/>
          </a:bodyPr>
          <a:lstStyle/>
          <a:p>
            <a:pPr algn="l">
              <a:lnSpc>
                <a:spcPts val="5403"/>
              </a:lnSpc>
              <a:spcBef>
                <a:spcPct val="0"/>
              </a:spcBef>
            </a:pPr>
            <a:r>
              <a:rPr lang="en-US" b="true" sz="3859" spc="38">
                <a:solidFill>
                  <a:srgbClr val="000000"/>
                </a:solidFill>
                <a:latin typeface="Glacial Indifference Bold"/>
                <a:ea typeface="Glacial Indifference Bold"/>
                <a:cs typeface="Glacial Indifference Bold"/>
                <a:sym typeface="Glacial Indifference Bold"/>
              </a:rPr>
              <a:t> Busin</a:t>
            </a:r>
            <a:r>
              <a:rPr lang="en-US" b="true" sz="3859" spc="38">
                <a:solidFill>
                  <a:srgbClr val="000000"/>
                </a:solidFill>
                <a:latin typeface="Glacial Indifference Bold"/>
                <a:ea typeface="Glacial Indifference Bold"/>
                <a:cs typeface="Glacial Indifference Bold"/>
                <a:sym typeface="Glacial Indifference Bold"/>
              </a:rPr>
              <a:t>ess English II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6501204">
            <a:off x="-2968067" y="-8147683"/>
            <a:ext cx="9798172" cy="13143890"/>
          </a:xfrm>
          <a:custGeom>
            <a:avLst/>
            <a:gdLst/>
            <a:ahLst/>
            <a:cxnLst/>
            <a:rect r="r" b="b" t="t" l="l"/>
            <a:pathLst>
              <a:path h="13143890" w="9798172">
                <a:moveTo>
                  <a:pt x="0" y="0"/>
                </a:moveTo>
                <a:lnTo>
                  <a:pt x="9798173" y="0"/>
                </a:lnTo>
                <a:lnTo>
                  <a:pt x="9798173" y="13143889"/>
                </a:lnTo>
                <a:lnTo>
                  <a:pt x="0" y="131438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11434890" y="2417332"/>
            <a:ext cx="9798172" cy="13143890"/>
          </a:xfrm>
          <a:custGeom>
            <a:avLst/>
            <a:gdLst/>
            <a:ahLst/>
            <a:cxnLst/>
            <a:rect r="r" b="b" t="t" l="l"/>
            <a:pathLst>
              <a:path h="13143890" w="9798172">
                <a:moveTo>
                  <a:pt x="0" y="0"/>
                </a:moveTo>
                <a:lnTo>
                  <a:pt x="9798172" y="0"/>
                </a:lnTo>
                <a:lnTo>
                  <a:pt x="9798172"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10301337">
            <a:off x="11322722" y="-4554124"/>
            <a:ext cx="12901483" cy="11165647"/>
          </a:xfrm>
          <a:custGeom>
            <a:avLst/>
            <a:gdLst/>
            <a:ahLst/>
            <a:cxnLst/>
            <a:rect r="r" b="b" t="t" l="l"/>
            <a:pathLst>
              <a:path h="11165647" w="12901483">
                <a:moveTo>
                  <a:pt x="0" y="0"/>
                </a:moveTo>
                <a:lnTo>
                  <a:pt x="12901483" y="0"/>
                </a:lnTo>
                <a:lnTo>
                  <a:pt x="12901483" y="11165648"/>
                </a:lnTo>
                <a:lnTo>
                  <a:pt x="0" y="11165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458160">
            <a:off x="-2914166" y="8723437"/>
            <a:ext cx="8481393" cy="7340260"/>
          </a:xfrm>
          <a:custGeom>
            <a:avLst/>
            <a:gdLst/>
            <a:ahLst/>
            <a:cxnLst/>
            <a:rect r="r" b="b" t="t" l="l"/>
            <a:pathLst>
              <a:path h="7340260" w="8481393">
                <a:moveTo>
                  <a:pt x="0" y="0"/>
                </a:moveTo>
                <a:lnTo>
                  <a:pt x="8481393" y="0"/>
                </a:lnTo>
                <a:lnTo>
                  <a:pt x="8481393" y="7340260"/>
                </a:lnTo>
                <a:lnTo>
                  <a:pt x="0" y="7340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0">
            <a:off x="6791667" y="5027909"/>
            <a:ext cx="8858064" cy="4914838"/>
          </a:xfrm>
          <a:custGeom>
            <a:avLst/>
            <a:gdLst/>
            <a:ahLst/>
            <a:cxnLst/>
            <a:rect r="r" b="b" t="t" l="l"/>
            <a:pathLst>
              <a:path h="4914838" w="8858064">
                <a:moveTo>
                  <a:pt x="0" y="0"/>
                </a:moveTo>
                <a:lnTo>
                  <a:pt x="8858064" y="0"/>
                </a:lnTo>
                <a:lnTo>
                  <a:pt x="8858064" y="4914838"/>
                </a:lnTo>
                <a:lnTo>
                  <a:pt x="0" y="4914838"/>
                </a:lnTo>
                <a:lnTo>
                  <a:pt x="0" y="0"/>
                </a:lnTo>
                <a:close/>
              </a:path>
            </a:pathLst>
          </a:custGeom>
          <a:blipFill>
            <a:blip r:embed="rId6"/>
            <a:stretch>
              <a:fillRect l="0" t="-18078" r="0" b="-36559"/>
            </a:stretch>
          </a:blipFill>
        </p:spPr>
      </p:sp>
      <p:sp>
        <p:nvSpPr>
          <p:cNvPr name="TextBox 7" id="7"/>
          <p:cNvSpPr txBox="true"/>
          <p:nvPr/>
        </p:nvSpPr>
        <p:spPr>
          <a:xfrm rot="0">
            <a:off x="399601" y="355368"/>
            <a:ext cx="15590742" cy="5202095"/>
          </a:xfrm>
          <a:prstGeom prst="rect">
            <a:avLst/>
          </a:prstGeom>
        </p:spPr>
        <p:txBody>
          <a:bodyPr anchor="t" rtlCol="false" tIns="0" lIns="0" bIns="0" rIns="0">
            <a:spAutoFit/>
          </a:bodyPr>
          <a:lstStyle/>
          <a:p>
            <a:pPr algn="l">
              <a:lnSpc>
                <a:spcPts val="4568"/>
              </a:lnSpc>
              <a:spcBef>
                <a:spcPct val="0"/>
              </a:spcBef>
            </a:pPr>
            <a:r>
              <a:rPr lang="en-US" b="true" sz="3262" spc="32">
                <a:solidFill>
                  <a:srgbClr val="152540"/>
                </a:solidFill>
                <a:latin typeface="Glacial Indifference Bold"/>
                <a:ea typeface="Glacial Indifference Bold"/>
                <a:cs typeface="Glacial Indifference Bold"/>
                <a:sym typeface="Glacial Indifference Bold"/>
              </a:rPr>
              <a:t>Tit</a:t>
            </a:r>
            <a:r>
              <a:rPr lang="en-US" b="true" sz="3262" spc="32">
                <a:solidFill>
                  <a:srgbClr val="152540"/>
                </a:solidFill>
                <a:latin typeface="Glacial Indifference Bold"/>
                <a:ea typeface="Glacial Indifference Bold"/>
                <a:cs typeface="Glacial Indifference Bold"/>
                <a:sym typeface="Glacial Indifference Bold"/>
              </a:rPr>
              <a:t>le: Why This Business Trip?</a:t>
            </a:r>
          </a:p>
          <a:p>
            <a:pPr algn="l">
              <a:lnSpc>
                <a:spcPts val="4568"/>
              </a:lnSpc>
              <a:spcBef>
                <a:spcPct val="0"/>
              </a:spcBef>
            </a:pPr>
          </a:p>
          <a:p>
            <a:pPr algn="l">
              <a:lnSpc>
                <a:spcPts val="4568"/>
              </a:lnSpc>
              <a:spcBef>
                <a:spcPct val="0"/>
              </a:spcBef>
            </a:pPr>
            <a:r>
              <a:rPr lang="en-US" b="true" sz="3262" spc="32">
                <a:solidFill>
                  <a:srgbClr val="152540"/>
                </a:solidFill>
                <a:latin typeface="Glacial Indifference Bold"/>
                <a:ea typeface="Glacial Indifference Bold"/>
                <a:cs typeface="Glacial Indifference Bold"/>
                <a:sym typeface="Glacial Indifference Bold"/>
              </a:rPr>
              <a:t>In today’s competitive software industry, staying ahead requires continuous learning and exposure to global trends. This proposal presents a business trip to San Francisco, California, specifically to visit Silicon Valley – the world’s leading technology hub. This trip will allow us to attend conferences, visit innovative companies, and network with industry experts, ultimately improving our work performance.</a:t>
            </a:r>
          </a:p>
          <a:p>
            <a:pPr algn="l">
              <a:lnSpc>
                <a:spcPts val="456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445925">
            <a:off x="3142738" y="-769394"/>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8466276" y="-959053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3283157">
            <a:off x="-1501206" y="7329841"/>
            <a:ext cx="5624862" cy="7545546"/>
          </a:xfrm>
          <a:custGeom>
            <a:avLst/>
            <a:gdLst/>
            <a:ahLst/>
            <a:cxnLst/>
            <a:rect r="r" b="b" t="t" l="l"/>
            <a:pathLst>
              <a:path h="7545546" w="5624862">
                <a:moveTo>
                  <a:pt x="0" y="0"/>
                </a:moveTo>
                <a:lnTo>
                  <a:pt x="5624862" y="0"/>
                </a:lnTo>
                <a:lnTo>
                  <a:pt x="5624862" y="7545546"/>
                </a:lnTo>
                <a:lnTo>
                  <a:pt x="0" y="75455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5" id="5"/>
          <p:cNvSpPr txBox="true"/>
          <p:nvPr/>
        </p:nvSpPr>
        <p:spPr>
          <a:xfrm rot="0">
            <a:off x="2683452" y="-9906"/>
            <a:ext cx="6460548" cy="1972437"/>
          </a:xfrm>
          <a:prstGeom prst="rect">
            <a:avLst/>
          </a:prstGeom>
        </p:spPr>
        <p:txBody>
          <a:bodyPr anchor="t" rtlCol="false" tIns="0" lIns="0" bIns="0" rIns="0">
            <a:spAutoFit/>
          </a:bodyPr>
          <a:lstStyle/>
          <a:p>
            <a:pPr algn="l">
              <a:lnSpc>
                <a:spcPts val="7961"/>
              </a:lnSpc>
            </a:pPr>
            <a:r>
              <a:rPr lang="en-US" sz="5686" spc="534">
                <a:solidFill>
                  <a:srgbClr val="152540"/>
                </a:solidFill>
                <a:latin typeface="Glacial Indifference"/>
                <a:ea typeface="Glacial Indifference"/>
                <a:cs typeface="Glacial Indifference"/>
                <a:sym typeface="Glacial Indifference"/>
              </a:rPr>
              <a:t>TITLE: ABOUT SAN FRANCISCO</a:t>
            </a:r>
          </a:p>
        </p:txBody>
      </p:sp>
      <p:sp>
        <p:nvSpPr>
          <p:cNvPr name="Freeform 6" id="6"/>
          <p:cNvSpPr/>
          <p:nvPr/>
        </p:nvSpPr>
        <p:spPr>
          <a:xfrm flipH="false" flipV="false" rot="2770156">
            <a:off x="-2577184" y="-2165857"/>
            <a:ext cx="5154368" cy="4995052"/>
          </a:xfrm>
          <a:custGeom>
            <a:avLst/>
            <a:gdLst/>
            <a:ahLst/>
            <a:cxnLst/>
            <a:rect r="r" b="b" t="t" l="l"/>
            <a:pathLst>
              <a:path h="4995052" w="5154368">
                <a:moveTo>
                  <a:pt x="0" y="0"/>
                </a:moveTo>
                <a:lnTo>
                  <a:pt x="5154368" y="0"/>
                </a:lnTo>
                <a:lnTo>
                  <a:pt x="5154368" y="4995051"/>
                </a:lnTo>
                <a:lnTo>
                  <a:pt x="0" y="49950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2770156">
            <a:off x="15683019" y="9014407"/>
            <a:ext cx="5154368" cy="4995052"/>
          </a:xfrm>
          <a:custGeom>
            <a:avLst/>
            <a:gdLst/>
            <a:ahLst/>
            <a:cxnLst/>
            <a:rect r="r" b="b" t="t" l="l"/>
            <a:pathLst>
              <a:path h="4995052" w="5154368">
                <a:moveTo>
                  <a:pt x="0" y="0"/>
                </a:moveTo>
                <a:lnTo>
                  <a:pt x="5154368" y="0"/>
                </a:lnTo>
                <a:lnTo>
                  <a:pt x="5154368" y="4995052"/>
                </a:lnTo>
                <a:lnTo>
                  <a:pt x="0" y="49950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8" id="8"/>
          <p:cNvSpPr txBox="true"/>
          <p:nvPr/>
        </p:nvSpPr>
        <p:spPr>
          <a:xfrm rot="0">
            <a:off x="330089" y="2679739"/>
            <a:ext cx="10471425" cy="6159898"/>
          </a:xfrm>
          <a:prstGeom prst="rect">
            <a:avLst/>
          </a:prstGeom>
        </p:spPr>
        <p:txBody>
          <a:bodyPr anchor="t" rtlCol="false" tIns="0" lIns="0" bIns="0" rIns="0">
            <a:spAutoFit/>
          </a:bodyPr>
          <a:lstStyle/>
          <a:p>
            <a:pPr algn="l">
              <a:lnSpc>
                <a:spcPts val="5403"/>
              </a:lnSpc>
              <a:spcBef>
                <a:spcPct val="0"/>
              </a:spcBef>
            </a:pPr>
            <a:r>
              <a:rPr lang="en-US" b="true" sz="3859" spc="38">
                <a:solidFill>
                  <a:srgbClr val="152540"/>
                </a:solidFill>
                <a:latin typeface="Glacial Indifference Bold"/>
                <a:ea typeface="Glacial Indifference Bold"/>
                <a:cs typeface="Glacial Indifference Bold"/>
                <a:sym typeface="Glacial Indifference Bold"/>
              </a:rPr>
              <a:t>San Francisco is a city located on the West Coast of the United States. It is known for its iconic Go</a:t>
            </a:r>
            <a:r>
              <a:rPr lang="en-US" b="true" sz="3859" spc="38">
                <a:solidFill>
                  <a:srgbClr val="152540"/>
                </a:solidFill>
                <a:latin typeface="Glacial Indifference Bold"/>
                <a:ea typeface="Glacial Indifference Bold"/>
                <a:cs typeface="Glacial Indifference Bold"/>
                <a:sym typeface="Glacial Indifference Bold"/>
              </a:rPr>
              <a:t>lden Gate Bridge, diverse culture, and vibrant technology scene. The city is home to hundreds of tech startups and global corporations such as Google, Apple, and Facebook. Its mild climate and scenic beauty make it an attractive destination for business and leisure.</a:t>
            </a:r>
          </a:p>
        </p:txBody>
      </p:sp>
      <p:sp>
        <p:nvSpPr>
          <p:cNvPr name="Freeform 9" id="9"/>
          <p:cNvSpPr/>
          <p:nvPr/>
        </p:nvSpPr>
        <p:spPr>
          <a:xfrm flipH="false" flipV="false" rot="0">
            <a:off x="11584259" y="331668"/>
            <a:ext cx="6178958" cy="8926632"/>
          </a:xfrm>
          <a:custGeom>
            <a:avLst/>
            <a:gdLst/>
            <a:ahLst/>
            <a:cxnLst/>
            <a:rect r="r" b="b" t="t" l="l"/>
            <a:pathLst>
              <a:path h="8926632" w="6178958">
                <a:moveTo>
                  <a:pt x="0" y="0"/>
                </a:moveTo>
                <a:lnTo>
                  <a:pt x="6178958" y="0"/>
                </a:lnTo>
                <a:lnTo>
                  <a:pt x="6178958" y="8926632"/>
                </a:lnTo>
                <a:lnTo>
                  <a:pt x="0" y="8926632"/>
                </a:lnTo>
                <a:lnTo>
                  <a:pt x="0" y="0"/>
                </a:lnTo>
                <a:close/>
              </a:path>
            </a:pathLst>
          </a:custGeom>
          <a:blipFill>
            <a:blip r:embed="rId8"/>
            <a:stretch>
              <a:fillRect l="-2818" t="-3377" r="0" b="-3377"/>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1106947" y="2473696"/>
            <a:ext cx="6124115" cy="7427665"/>
            <a:chOff x="0" y="0"/>
            <a:chExt cx="968222" cy="1174314"/>
          </a:xfrm>
        </p:grpSpPr>
        <p:sp>
          <p:nvSpPr>
            <p:cNvPr name="Freeform 3" id="3"/>
            <p:cNvSpPr/>
            <p:nvPr/>
          </p:nvSpPr>
          <p:spPr>
            <a:xfrm flipH="false" flipV="false" rot="0">
              <a:off x="0" y="0"/>
              <a:ext cx="968222" cy="1174314"/>
            </a:xfrm>
            <a:custGeom>
              <a:avLst/>
              <a:gdLst/>
              <a:ahLst/>
              <a:cxnLst/>
              <a:rect r="r" b="b" t="t" l="l"/>
              <a:pathLst>
                <a:path h="1174314" w="968222">
                  <a:moveTo>
                    <a:pt x="32868" y="0"/>
                  </a:moveTo>
                  <a:lnTo>
                    <a:pt x="935354" y="0"/>
                  </a:lnTo>
                  <a:cubicBezTo>
                    <a:pt x="953507" y="0"/>
                    <a:pt x="968222" y="14716"/>
                    <a:pt x="968222" y="32868"/>
                  </a:cubicBezTo>
                  <a:lnTo>
                    <a:pt x="968222" y="1141445"/>
                  </a:lnTo>
                  <a:cubicBezTo>
                    <a:pt x="968222" y="1150163"/>
                    <a:pt x="964760" y="1158523"/>
                    <a:pt x="958596" y="1164687"/>
                  </a:cubicBezTo>
                  <a:cubicBezTo>
                    <a:pt x="952431" y="1170851"/>
                    <a:pt x="944071" y="1174314"/>
                    <a:pt x="935354" y="1174314"/>
                  </a:cubicBezTo>
                  <a:lnTo>
                    <a:pt x="32868" y="1174314"/>
                  </a:lnTo>
                  <a:cubicBezTo>
                    <a:pt x="14716" y="1174314"/>
                    <a:pt x="0" y="1159598"/>
                    <a:pt x="0" y="1141445"/>
                  </a:cubicBezTo>
                  <a:lnTo>
                    <a:pt x="0" y="32868"/>
                  </a:lnTo>
                  <a:cubicBezTo>
                    <a:pt x="0" y="24151"/>
                    <a:pt x="3463" y="15791"/>
                    <a:pt x="9627" y="9627"/>
                  </a:cubicBezTo>
                  <a:cubicBezTo>
                    <a:pt x="15791" y="3463"/>
                    <a:pt x="24151" y="0"/>
                    <a:pt x="32868" y="0"/>
                  </a:cubicBezTo>
                  <a:close/>
                </a:path>
              </a:pathLst>
            </a:custGeom>
            <a:solidFill>
              <a:srgbClr val="EDE8E4"/>
            </a:solidFill>
          </p:spPr>
        </p:sp>
        <p:sp>
          <p:nvSpPr>
            <p:cNvPr name="TextBox 4" id="4"/>
            <p:cNvSpPr txBox="true"/>
            <p:nvPr/>
          </p:nvSpPr>
          <p:spPr>
            <a:xfrm>
              <a:off x="0" y="9525"/>
              <a:ext cx="968222" cy="1164789"/>
            </a:xfrm>
            <a:prstGeom prst="rect">
              <a:avLst/>
            </a:prstGeom>
          </p:spPr>
          <p:txBody>
            <a:bodyPr anchor="ctr" rtlCol="false" tIns="50800" lIns="50800" bIns="50800" rIns="50800"/>
            <a:lstStyle/>
            <a:p>
              <a:pPr algn="ctr">
                <a:lnSpc>
                  <a:spcPts val="2121"/>
                </a:lnSpc>
              </a:pPr>
            </a:p>
          </p:txBody>
        </p:sp>
      </p:grpSp>
      <p:sp>
        <p:nvSpPr>
          <p:cNvPr name="TextBox 5" id="5"/>
          <p:cNvSpPr txBox="true"/>
          <p:nvPr/>
        </p:nvSpPr>
        <p:spPr>
          <a:xfrm rot="0">
            <a:off x="1485110" y="-316519"/>
            <a:ext cx="15611405" cy="2547564"/>
          </a:xfrm>
          <a:prstGeom prst="rect">
            <a:avLst/>
          </a:prstGeom>
        </p:spPr>
        <p:txBody>
          <a:bodyPr anchor="t" rtlCol="false" tIns="0" lIns="0" bIns="0" rIns="0">
            <a:spAutoFit/>
          </a:bodyPr>
          <a:lstStyle/>
          <a:p>
            <a:pPr algn="ctr">
              <a:lnSpc>
                <a:spcPts val="10258"/>
              </a:lnSpc>
            </a:pPr>
            <a:r>
              <a:rPr lang="en-US" b="true" sz="7327" spc="688">
                <a:solidFill>
                  <a:srgbClr val="EDE8E4"/>
                </a:solidFill>
                <a:latin typeface="Glacial Indifference Bold"/>
                <a:ea typeface="Glacial Indifference Bold"/>
                <a:cs typeface="Glacial Indifference Bold"/>
                <a:sym typeface="Glacial Indifference Bold"/>
              </a:rPr>
              <a:t>TITLE: THE HEART OF INNOVATION</a:t>
            </a:r>
          </a:p>
        </p:txBody>
      </p:sp>
      <p:sp>
        <p:nvSpPr>
          <p:cNvPr name="TextBox 6" id="6"/>
          <p:cNvSpPr txBox="true"/>
          <p:nvPr/>
        </p:nvSpPr>
        <p:spPr>
          <a:xfrm rot="0">
            <a:off x="1434861" y="2516356"/>
            <a:ext cx="5468286" cy="7285194"/>
          </a:xfrm>
          <a:prstGeom prst="rect">
            <a:avLst/>
          </a:prstGeom>
        </p:spPr>
        <p:txBody>
          <a:bodyPr anchor="t" rtlCol="false" tIns="0" lIns="0" bIns="0" rIns="0">
            <a:spAutoFit/>
          </a:bodyPr>
          <a:lstStyle/>
          <a:p>
            <a:pPr algn="ctr">
              <a:lnSpc>
                <a:spcPts val="3648"/>
              </a:lnSpc>
            </a:pPr>
            <a:r>
              <a:rPr lang="en-US" sz="2605" spc="57">
                <a:solidFill>
                  <a:srgbClr val="152540"/>
                </a:solidFill>
                <a:latin typeface="Glacial Indifference"/>
                <a:ea typeface="Glacial Indifference"/>
                <a:cs typeface="Glacial Indifference"/>
                <a:sym typeface="Glacial Indifference"/>
              </a:rPr>
              <a:t>Silic</a:t>
            </a:r>
            <a:r>
              <a:rPr lang="en-US" sz="2605" spc="57" strike="noStrike" u="none">
                <a:solidFill>
                  <a:srgbClr val="152540"/>
                </a:solidFill>
                <a:latin typeface="Glacial Indifference"/>
                <a:ea typeface="Glacial Indifference"/>
                <a:cs typeface="Glacial Indifference"/>
                <a:sym typeface="Glacial Indifference"/>
              </a:rPr>
              <a:t>on Valley is the epicenter of technological innovation. It hosts the headquarters of major tech companies and thousands of startups. Visiting this area will provide us with:</a:t>
            </a:r>
          </a:p>
          <a:p>
            <a:pPr algn="ctr" marL="562611" indent="-281306" lvl="1">
              <a:lnSpc>
                <a:spcPts val="3648"/>
              </a:lnSpc>
              <a:buFont typeface="Arial"/>
              <a:buChar char="•"/>
            </a:pPr>
            <a:r>
              <a:rPr lang="en-US" sz="2605" spc="57" strike="noStrike" u="none">
                <a:solidFill>
                  <a:srgbClr val="152540"/>
                </a:solidFill>
                <a:latin typeface="Glacial Indifference"/>
                <a:ea typeface="Glacial Indifference"/>
                <a:cs typeface="Glacial Indifference"/>
                <a:sym typeface="Glacial Indifference"/>
              </a:rPr>
              <a:t>Exposure to cutting-edge technologies (AI, cloud computing, cybersecurity).</a:t>
            </a:r>
          </a:p>
          <a:p>
            <a:pPr algn="ctr" marL="562611" indent="-281306" lvl="1">
              <a:lnSpc>
                <a:spcPts val="3648"/>
              </a:lnSpc>
              <a:buFont typeface="Arial"/>
              <a:buChar char="•"/>
            </a:pPr>
            <a:r>
              <a:rPr lang="en-US" sz="2605" spc="57" strike="noStrike" u="none">
                <a:solidFill>
                  <a:srgbClr val="152540"/>
                </a:solidFill>
                <a:latin typeface="Glacial Indifference"/>
                <a:ea typeface="Glacial Indifference"/>
                <a:cs typeface="Glacial Indifference"/>
                <a:sym typeface="Glacial Indifference"/>
              </a:rPr>
              <a:t>Insights into agile development and modern software engineering practices.</a:t>
            </a:r>
          </a:p>
          <a:p>
            <a:pPr algn="ctr" marL="562611" indent="-281306" lvl="1">
              <a:lnSpc>
                <a:spcPts val="3648"/>
              </a:lnSpc>
              <a:buFont typeface="Arial"/>
              <a:buChar char="•"/>
            </a:pPr>
            <a:r>
              <a:rPr lang="en-US" sz="2605" spc="57" strike="noStrike" u="none">
                <a:solidFill>
                  <a:srgbClr val="152540"/>
                </a:solidFill>
                <a:latin typeface="Glacial Indifference"/>
                <a:ea typeface="Glacial Indifference"/>
                <a:cs typeface="Glacial Indifference"/>
                <a:sym typeface="Glacial Indifference"/>
              </a:rPr>
              <a:t>Opportunities to learn from success stories and failures of renowned companies.</a:t>
            </a:r>
          </a:p>
          <a:p>
            <a:pPr algn="ctr">
              <a:lnSpc>
                <a:spcPts val="3648"/>
              </a:lnSpc>
            </a:pPr>
          </a:p>
        </p:txBody>
      </p:sp>
      <p:sp>
        <p:nvSpPr>
          <p:cNvPr name="AutoShape 7" id="7"/>
          <p:cNvSpPr/>
          <p:nvPr/>
        </p:nvSpPr>
        <p:spPr>
          <a:xfrm flipV="true">
            <a:off x="6779369" y="5754241"/>
            <a:ext cx="4732518" cy="0"/>
          </a:xfrm>
          <a:prstGeom prst="line">
            <a:avLst/>
          </a:prstGeom>
          <a:ln cap="flat" w="38100">
            <a:solidFill>
              <a:srgbClr val="253754"/>
            </a:solidFill>
            <a:prstDash val="solid"/>
            <a:headEnd type="none" len="sm" w="sm"/>
            <a:tailEnd type="none" len="sm" w="sm"/>
          </a:ln>
        </p:spPr>
      </p:sp>
      <p:sp>
        <p:nvSpPr>
          <p:cNvPr name="AutoShape 8" id="8"/>
          <p:cNvSpPr/>
          <p:nvPr/>
        </p:nvSpPr>
        <p:spPr>
          <a:xfrm flipV="true">
            <a:off x="12244269" y="5754241"/>
            <a:ext cx="4732518" cy="0"/>
          </a:xfrm>
          <a:prstGeom prst="line">
            <a:avLst/>
          </a:prstGeom>
          <a:ln cap="flat" w="38100">
            <a:solidFill>
              <a:srgbClr val="253754"/>
            </a:solidFill>
            <a:prstDash val="solid"/>
            <a:headEnd type="none" len="sm" w="sm"/>
            <a:tailEnd type="none" len="sm" w="sm"/>
          </a:ln>
        </p:spPr>
      </p:sp>
      <p:sp>
        <p:nvSpPr>
          <p:cNvPr name="Freeform 9" id="9"/>
          <p:cNvSpPr/>
          <p:nvPr/>
        </p:nvSpPr>
        <p:spPr>
          <a:xfrm flipH="false" flipV="false" rot="0">
            <a:off x="16321534" y="-285545"/>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0" id="10"/>
          <p:cNvSpPr/>
          <p:nvPr/>
        </p:nvSpPr>
        <p:spPr>
          <a:xfrm flipH="false" flipV="false" rot="0">
            <a:off x="17304767" y="854768"/>
            <a:ext cx="1966466" cy="1884231"/>
          </a:xfrm>
          <a:custGeom>
            <a:avLst/>
            <a:gdLst/>
            <a:ahLst/>
            <a:cxnLst/>
            <a:rect r="r" b="b" t="t" l="l"/>
            <a:pathLst>
              <a:path h="1884231" w="1966466">
                <a:moveTo>
                  <a:pt x="0" y="0"/>
                </a:moveTo>
                <a:lnTo>
                  <a:pt x="1966466" y="0"/>
                </a:lnTo>
                <a:lnTo>
                  <a:pt x="1966466" y="1884232"/>
                </a:lnTo>
                <a:lnTo>
                  <a:pt x="0" y="18842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false" flipV="false" rot="0">
            <a:off x="0" y="9258300"/>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2" id="12"/>
          <p:cNvSpPr/>
          <p:nvPr/>
        </p:nvSpPr>
        <p:spPr>
          <a:xfrm flipH="false" flipV="false" rot="0">
            <a:off x="-937766" y="8402769"/>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3" id="13"/>
          <p:cNvSpPr/>
          <p:nvPr/>
        </p:nvSpPr>
        <p:spPr>
          <a:xfrm flipH="false" flipV="false" rot="-10799999">
            <a:off x="12715117" y="7583041"/>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4" id="14"/>
          <p:cNvSpPr/>
          <p:nvPr/>
        </p:nvSpPr>
        <p:spPr>
          <a:xfrm flipH="false" flipV="false" rot="0">
            <a:off x="8135847" y="3036873"/>
            <a:ext cx="10152153" cy="5713537"/>
          </a:xfrm>
          <a:custGeom>
            <a:avLst/>
            <a:gdLst/>
            <a:ahLst/>
            <a:cxnLst/>
            <a:rect r="r" b="b" t="t" l="l"/>
            <a:pathLst>
              <a:path h="5713537" w="10152153">
                <a:moveTo>
                  <a:pt x="0" y="0"/>
                </a:moveTo>
                <a:lnTo>
                  <a:pt x="10152153" y="0"/>
                </a:lnTo>
                <a:lnTo>
                  <a:pt x="10152153" y="5713537"/>
                </a:lnTo>
                <a:lnTo>
                  <a:pt x="0" y="5713537"/>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TextBox 2" id="2"/>
          <p:cNvSpPr txBox="true"/>
          <p:nvPr/>
        </p:nvSpPr>
        <p:spPr>
          <a:xfrm rot="0">
            <a:off x="291402" y="1783615"/>
            <a:ext cx="8307816" cy="4876991"/>
          </a:xfrm>
          <a:prstGeom prst="rect">
            <a:avLst/>
          </a:prstGeom>
        </p:spPr>
        <p:txBody>
          <a:bodyPr anchor="t" rtlCol="false" tIns="0" lIns="0" bIns="0" rIns="0">
            <a:spAutoFit/>
          </a:bodyPr>
          <a:lstStyle/>
          <a:p>
            <a:pPr algn="l">
              <a:lnSpc>
                <a:spcPts val="3856"/>
              </a:lnSpc>
            </a:pPr>
            <a:r>
              <a:rPr lang="en-US" sz="2754" spc="60">
                <a:solidFill>
                  <a:srgbClr val="152540"/>
                </a:solidFill>
                <a:latin typeface="Glacial Indifference"/>
                <a:ea typeface="Glacial Indifference"/>
                <a:cs typeface="Glacial Indifference"/>
                <a:sym typeface="Glacial Indifference"/>
              </a:rPr>
              <a:t>Du</a:t>
            </a:r>
            <a:r>
              <a:rPr lang="en-US" sz="2754" spc="60" strike="noStrike" u="none">
                <a:solidFill>
                  <a:srgbClr val="152540"/>
                </a:solidFill>
                <a:latin typeface="Glacial Indifference"/>
                <a:ea typeface="Glacial Indifference"/>
                <a:cs typeface="Glacial Indifference"/>
                <a:sym typeface="Glacial Indifference"/>
              </a:rPr>
              <a:t>ring this 5-day trip, we plan to:</a:t>
            </a:r>
          </a:p>
          <a:p>
            <a:pPr algn="l" marL="594779" indent="-297390" lvl="1">
              <a:lnSpc>
                <a:spcPts val="3856"/>
              </a:lnSpc>
              <a:buAutoNum type="arabicPeriod" startAt="1"/>
            </a:pPr>
            <a:r>
              <a:rPr lang="en-US" sz="2754" spc="60" strike="noStrike" u="none">
                <a:solidFill>
                  <a:srgbClr val="152540"/>
                </a:solidFill>
                <a:latin typeface="Glacial Indifference"/>
                <a:ea typeface="Glacial Indifference"/>
                <a:cs typeface="Glacial Indifference"/>
                <a:sym typeface="Glacial Indifference"/>
              </a:rPr>
              <a:t>Attend the TechCrunch Disrupt Conference – to learn about emerging trends.</a:t>
            </a:r>
          </a:p>
          <a:p>
            <a:pPr algn="l" marL="594779" indent="-297390" lvl="1">
              <a:lnSpc>
                <a:spcPts val="3856"/>
              </a:lnSpc>
              <a:buAutoNum type="arabicPeriod" startAt="1"/>
            </a:pPr>
            <a:r>
              <a:rPr lang="en-US" sz="2754" spc="60" strike="noStrike" u="none">
                <a:solidFill>
                  <a:srgbClr val="152540"/>
                </a:solidFill>
                <a:latin typeface="Glacial Indifference"/>
                <a:ea typeface="Glacial Indifference"/>
                <a:cs typeface="Glacial Indifference"/>
                <a:sym typeface="Glacial Indifference"/>
              </a:rPr>
              <a:t>Visit Google’s Campus – to understand their work culture and innovation processes.</a:t>
            </a:r>
          </a:p>
          <a:p>
            <a:pPr algn="l" marL="594779" indent="-297390" lvl="1">
              <a:lnSpc>
                <a:spcPts val="3856"/>
              </a:lnSpc>
              <a:buAutoNum type="arabicPeriod" startAt="1"/>
            </a:pPr>
            <a:r>
              <a:rPr lang="en-US" sz="2754" spc="60" strike="noStrike" u="none">
                <a:solidFill>
                  <a:srgbClr val="152540"/>
                </a:solidFill>
                <a:latin typeface="Glacial Indifference"/>
                <a:ea typeface="Glacial Indifference"/>
                <a:cs typeface="Glacial Indifference"/>
                <a:sym typeface="Glacial Indifference"/>
              </a:rPr>
              <a:t>Network with local entrepreneurs – to explore potential partnerships.</a:t>
            </a:r>
          </a:p>
          <a:p>
            <a:pPr algn="l" marL="594779" indent="-297390" lvl="1">
              <a:lnSpc>
                <a:spcPts val="3856"/>
              </a:lnSpc>
              <a:buAutoNum type="arabicPeriod" startAt="1"/>
            </a:pPr>
            <a:r>
              <a:rPr lang="en-US" sz="2754" spc="60" strike="noStrike" u="none">
                <a:solidFill>
                  <a:srgbClr val="152540"/>
                </a:solidFill>
                <a:latin typeface="Glacial Indifference"/>
                <a:ea typeface="Glacial Indifference"/>
                <a:cs typeface="Glacial Indifference"/>
                <a:sym typeface="Glacial Indifference"/>
              </a:rPr>
              <a:t>Take a workshop on Design Thinking – to apply human-centered design in our projects.</a:t>
            </a:r>
          </a:p>
          <a:p>
            <a:pPr algn="l">
              <a:lnSpc>
                <a:spcPts val="3856"/>
              </a:lnSpc>
            </a:pPr>
          </a:p>
        </p:txBody>
      </p:sp>
      <p:sp>
        <p:nvSpPr>
          <p:cNvPr name="TextBox 3" id="3"/>
          <p:cNvSpPr txBox="true"/>
          <p:nvPr/>
        </p:nvSpPr>
        <p:spPr>
          <a:xfrm rot="0">
            <a:off x="3614057" y="62311"/>
            <a:ext cx="11059885" cy="966389"/>
          </a:xfrm>
          <a:prstGeom prst="rect">
            <a:avLst/>
          </a:prstGeom>
        </p:spPr>
        <p:txBody>
          <a:bodyPr anchor="t" rtlCol="false" tIns="0" lIns="0" bIns="0" rIns="0">
            <a:spAutoFit/>
          </a:bodyPr>
          <a:lstStyle/>
          <a:p>
            <a:pPr algn="l">
              <a:lnSpc>
                <a:spcPts val="7961"/>
              </a:lnSpc>
            </a:pPr>
            <a:r>
              <a:rPr lang="en-US" sz="5686" spc="534">
                <a:solidFill>
                  <a:srgbClr val="152540"/>
                </a:solidFill>
                <a:latin typeface="Glacial Indifference"/>
                <a:ea typeface="Glacial Indifference"/>
                <a:cs typeface="Glacial Indifference"/>
                <a:sym typeface="Glacial Indifference"/>
              </a:rPr>
              <a:t>TITLE: PROPOSED ACTIVITIES</a:t>
            </a:r>
          </a:p>
        </p:txBody>
      </p:sp>
      <p:sp>
        <p:nvSpPr>
          <p:cNvPr name="Freeform 4" id="4"/>
          <p:cNvSpPr/>
          <p:nvPr/>
        </p:nvSpPr>
        <p:spPr>
          <a:xfrm flipH="false" flipV="false" rot="-6399961">
            <a:off x="11329998" y="-1574727"/>
            <a:ext cx="13805122" cy="17698875"/>
          </a:xfrm>
          <a:custGeom>
            <a:avLst/>
            <a:gdLst/>
            <a:ahLst/>
            <a:cxnLst/>
            <a:rect r="r" b="b" t="t" l="l"/>
            <a:pathLst>
              <a:path h="17698875" w="13805122">
                <a:moveTo>
                  <a:pt x="0" y="0"/>
                </a:moveTo>
                <a:lnTo>
                  <a:pt x="13805122" y="0"/>
                </a:lnTo>
                <a:lnTo>
                  <a:pt x="13805122" y="17698875"/>
                </a:lnTo>
                <a:lnTo>
                  <a:pt x="0" y="176988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AutoShape 5" id="5"/>
          <p:cNvSpPr/>
          <p:nvPr/>
        </p:nvSpPr>
        <p:spPr>
          <a:xfrm flipV="true">
            <a:off x="2835837" y="4028847"/>
            <a:ext cx="0" cy="1470758"/>
          </a:xfrm>
          <a:prstGeom prst="line">
            <a:avLst/>
          </a:prstGeom>
          <a:ln cap="flat" w="152400">
            <a:solidFill>
              <a:srgbClr val="E3D8D4"/>
            </a:solidFill>
            <a:prstDash val="solid"/>
            <a:headEnd type="none" len="sm" w="sm"/>
            <a:tailEnd type="none" len="sm" w="sm"/>
          </a:ln>
        </p:spPr>
      </p:sp>
      <p:sp>
        <p:nvSpPr>
          <p:cNvPr name="AutoShape 6" id="6"/>
          <p:cNvSpPr/>
          <p:nvPr/>
        </p:nvSpPr>
        <p:spPr>
          <a:xfrm flipH="true" flipV="true">
            <a:off x="2835837" y="5752428"/>
            <a:ext cx="0" cy="1470758"/>
          </a:xfrm>
          <a:prstGeom prst="line">
            <a:avLst/>
          </a:prstGeom>
          <a:ln cap="flat" w="152400">
            <a:solidFill>
              <a:srgbClr val="E3D8D4"/>
            </a:solidFill>
            <a:prstDash val="solid"/>
            <a:headEnd type="none" len="sm" w="sm"/>
            <a:tailEnd type="none" len="sm" w="sm"/>
          </a:ln>
        </p:spPr>
      </p:sp>
      <p:sp>
        <p:nvSpPr>
          <p:cNvPr name="AutoShape 7" id="7"/>
          <p:cNvSpPr/>
          <p:nvPr/>
        </p:nvSpPr>
        <p:spPr>
          <a:xfrm flipH="true" flipV="true">
            <a:off x="2835837" y="7472670"/>
            <a:ext cx="0" cy="1470758"/>
          </a:xfrm>
          <a:prstGeom prst="line">
            <a:avLst/>
          </a:prstGeom>
          <a:ln cap="flat" w="152400">
            <a:solidFill>
              <a:srgbClr val="E3D8D4"/>
            </a:solidFill>
            <a:prstDash val="solid"/>
            <a:headEnd type="none" len="sm" w="sm"/>
            <a:tailEnd type="none" len="sm" w="sm"/>
          </a:ln>
        </p:spPr>
      </p:sp>
      <p:sp>
        <p:nvSpPr>
          <p:cNvPr name="Freeform 8" id="8"/>
          <p:cNvSpPr/>
          <p:nvPr/>
        </p:nvSpPr>
        <p:spPr>
          <a:xfrm flipH="false" flipV="false" rot="0">
            <a:off x="15572246" y="8746182"/>
            <a:ext cx="1966466" cy="1884231"/>
          </a:xfrm>
          <a:custGeom>
            <a:avLst/>
            <a:gdLst/>
            <a:ahLst/>
            <a:cxnLst/>
            <a:rect r="r" b="b" t="t" l="l"/>
            <a:pathLst>
              <a:path h="1884231" w="1966466">
                <a:moveTo>
                  <a:pt x="0" y="0"/>
                </a:moveTo>
                <a:lnTo>
                  <a:pt x="1966465" y="0"/>
                </a:lnTo>
                <a:lnTo>
                  <a:pt x="1966465" y="1884231"/>
                </a:lnTo>
                <a:lnTo>
                  <a:pt x="0" y="1884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17259300" y="8746182"/>
            <a:ext cx="1966466" cy="1884231"/>
          </a:xfrm>
          <a:custGeom>
            <a:avLst/>
            <a:gdLst/>
            <a:ahLst/>
            <a:cxnLst/>
            <a:rect r="r" b="b" t="t" l="l"/>
            <a:pathLst>
              <a:path h="1884231" w="1966466">
                <a:moveTo>
                  <a:pt x="0" y="0"/>
                </a:moveTo>
                <a:lnTo>
                  <a:pt x="1966466" y="0"/>
                </a:lnTo>
                <a:lnTo>
                  <a:pt x="1966466" y="1884231"/>
                </a:lnTo>
                <a:lnTo>
                  <a:pt x="0" y="18842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0" id="10"/>
          <p:cNvSpPr/>
          <p:nvPr/>
        </p:nvSpPr>
        <p:spPr>
          <a:xfrm flipH="false" flipV="false" rot="659918">
            <a:off x="-442221" y="-3550155"/>
            <a:ext cx="6556116" cy="6126988"/>
          </a:xfrm>
          <a:custGeom>
            <a:avLst/>
            <a:gdLst/>
            <a:ahLst/>
            <a:cxnLst/>
            <a:rect r="r" b="b" t="t" l="l"/>
            <a:pathLst>
              <a:path h="6126988" w="6556116">
                <a:moveTo>
                  <a:pt x="0" y="0"/>
                </a:moveTo>
                <a:lnTo>
                  <a:pt x="6556116" y="0"/>
                </a:lnTo>
                <a:lnTo>
                  <a:pt x="6556116" y="6126989"/>
                </a:lnTo>
                <a:lnTo>
                  <a:pt x="0" y="61269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1" id="11"/>
          <p:cNvSpPr/>
          <p:nvPr/>
        </p:nvSpPr>
        <p:spPr>
          <a:xfrm flipH="false" flipV="false" rot="0">
            <a:off x="9634068" y="3145969"/>
            <a:ext cx="8115300" cy="4838236"/>
          </a:xfrm>
          <a:custGeom>
            <a:avLst/>
            <a:gdLst/>
            <a:ahLst/>
            <a:cxnLst/>
            <a:rect r="r" b="b" t="t" l="l"/>
            <a:pathLst>
              <a:path h="4838236" w="8115300">
                <a:moveTo>
                  <a:pt x="0" y="0"/>
                </a:moveTo>
                <a:lnTo>
                  <a:pt x="8115300" y="0"/>
                </a:lnTo>
                <a:lnTo>
                  <a:pt x="8115300" y="4838236"/>
                </a:lnTo>
                <a:lnTo>
                  <a:pt x="0" y="4838236"/>
                </a:lnTo>
                <a:lnTo>
                  <a:pt x="0" y="0"/>
                </a:lnTo>
                <a:close/>
              </a:path>
            </a:pathLst>
          </a:custGeom>
          <a:blipFill>
            <a:blip r:embed="rId8"/>
            <a:stretch>
              <a:fillRect l="0" t="-6137" r="0" b="-14285"/>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Freeform 2" id="2"/>
          <p:cNvSpPr/>
          <p:nvPr/>
        </p:nvSpPr>
        <p:spPr>
          <a:xfrm flipH="false" flipV="false" rot="0">
            <a:off x="-290950" y="-2033784"/>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10151301">
            <a:off x="11164674" y="6546853"/>
            <a:ext cx="8535602" cy="7976908"/>
          </a:xfrm>
          <a:custGeom>
            <a:avLst/>
            <a:gdLst/>
            <a:ahLst/>
            <a:cxnLst/>
            <a:rect r="r" b="b" t="t" l="l"/>
            <a:pathLst>
              <a:path h="7976908" w="8535602">
                <a:moveTo>
                  <a:pt x="0" y="0"/>
                </a:moveTo>
                <a:lnTo>
                  <a:pt x="8535602" y="0"/>
                </a:lnTo>
                <a:lnTo>
                  <a:pt x="8535602" y="7976908"/>
                </a:lnTo>
                <a:lnTo>
                  <a:pt x="0" y="79769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0">
            <a:off x="973191" y="4745662"/>
            <a:ext cx="6709508" cy="4512638"/>
          </a:xfrm>
          <a:custGeom>
            <a:avLst/>
            <a:gdLst/>
            <a:ahLst/>
            <a:cxnLst/>
            <a:rect r="r" b="b" t="t" l="l"/>
            <a:pathLst>
              <a:path h="4512638" w="6709508">
                <a:moveTo>
                  <a:pt x="0" y="0"/>
                </a:moveTo>
                <a:lnTo>
                  <a:pt x="6709508" y="0"/>
                </a:lnTo>
                <a:lnTo>
                  <a:pt x="6709508" y="4512638"/>
                </a:lnTo>
                <a:lnTo>
                  <a:pt x="0" y="4512638"/>
                </a:lnTo>
                <a:lnTo>
                  <a:pt x="0" y="0"/>
                </a:lnTo>
                <a:close/>
              </a:path>
            </a:pathLst>
          </a:custGeom>
          <a:blipFill>
            <a:blip r:embed="rId4"/>
            <a:stretch>
              <a:fillRect l="-35359" t="0" r="-11828" b="-23098"/>
            </a:stretch>
          </a:blipFill>
        </p:spPr>
      </p:sp>
      <p:sp>
        <p:nvSpPr>
          <p:cNvPr name="TextBox 5" id="5"/>
          <p:cNvSpPr txBox="true"/>
          <p:nvPr/>
        </p:nvSpPr>
        <p:spPr>
          <a:xfrm rot="0">
            <a:off x="4327945" y="-142875"/>
            <a:ext cx="13282449" cy="2458803"/>
          </a:xfrm>
          <a:prstGeom prst="rect">
            <a:avLst/>
          </a:prstGeom>
        </p:spPr>
        <p:txBody>
          <a:bodyPr anchor="t" rtlCol="false" tIns="0" lIns="0" bIns="0" rIns="0">
            <a:spAutoFit/>
          </a:bodyPr>
          <a:lstStyle/>
          <a:p>
            <a:pPr algn="r">
              <a:lnSpc>
                <a:spcPts val="9841"/>
              </a:lnSpc>
            </a:pPr>
            <a:r>
              <a:rPr lang="en-US" sz="7029" spc="660">
                <a:solidFill>
                  <a:srgbClr val="EDE8E4"/>
                </a:solidFill>
                <a:latin typeface="Glacial Indifference"/>
                <a:ea typeface="Glacial Indifference"/>
                <a:cs typeface="Glacial Indifference"/>
                <a:sym typeface="Glacial Indifference"/>
              </a:rPr>
              <a:t> HOW THIS TRIP IMPROVES OUR PERFORMANCE</a:t>
            </a:r>
          </a:p>
        </p:txBody>
      </p:sp>
      <p:sp>
        <p:nvSpPr>
          <p:cNvPr name="TextBox 6" id="6"/>
          <p:cNvSpPr txBox="true"/>
          <p:nvPr/>
        </p:nvSpPr>
        <p:spPr>
          <a:xfrm rot="0">
            <a:off x="8008558" y="3190745"/>
            <a:ext cx="9952931" cy="4634126"/>
          </a:xfrm>
          <a:prstGeom prst="rect">
            <a:avLst/>
          </a:prstGeom>
        </p:spPr>
        <p:txBody>
          <a:bodyPr anchor="t" rtlCol="false" tIns="0" lIns="0" bIns="0" rIns="0">
            <a:spAutoFit/>
          </a:bodyPr>
          <a:lstStyle/>
          <a:p>
            <a:pPr algn="ctr">
              <a:lnSpc>
                <a:spcPts val="3694"/>
              </a:lnSpc>
            </a:pPr>
            <a:r>
              <a:rPr lang="en-US" sz="2639" spc="58">
                <a:solidFill>
                  <a:srgbClr val="EDE8E4"/>
                </a:solidFill>
                <a:latin typeface="Glacial Indifference"/>
                <a:ea typeface="Glacial Indifference"/>
                <a:cs typeface="Glacial Indifference"/>
                <a:sym typeface="Glacial Indifference"/>
              </a:rPr>
              <a:t>This t</a:t>
            </a:r>
            <a:r>
              <a:rPr lang="en-US" sz="2639" spc="58" strike="noStrike" u="none">
                <a:solidFill>
                  <a:srgbClr val="EDE8E4"/>
                </a:solidFill>
                <a:latin typeface="Glacial Indifference"/>
                <a:ea typeface="Glacial Indifference"/>
                <a:cs typeface="Glacial Indifference"/>
                <a:sym typeface="Glacial Indifference"/>
              </a:rPr>
              <a:t>rip will directly benefit our team by:</a:t>
            </a:r>
          </a:p>
          <a:p>
            <a:pPr algn="ctr" marL="569775" indent="-284888" lvl="1">
              <a:lnSpc>
                <a:spcPts val="3694"/>
              </a:lnSpc>
              <a:buFont typeface="Arial"/>
              <a:buChar char="•"/>
            </a:pPr>
            <a:r>
              <a:rPr lang="en-US" sz="2639" spc="58" strike="noStrike" u="none">
                <a:solidFill>
                  <a:srgbClr val="EDE8E4"/>
                </a:solidFill>
                <a:latin typeface="Glacial Indifference"/>
                <a:ea typeface="Glacial Indifference"/>
                <a:cs typeface="Glacial Indifference"/>
                <a:sym typeface="Glacial Indifference"/>
              </a:rPr>
              <a:t>Enhancing our technical knowledge by exposing us to new tools and methodologies.</a:t>
            </a:r>
          </a:p>
          <a:p>
            <a:pPr algn="ctr" marL="569775" indent="-284888" lvl="1">
              <a:lnSpc>
                <a:spcPts val="3694"/>
              </a:lnSpc>
              <a:buFont typeface="Arial"/>
              <a:buChar char="•"/>
            </a:pPr>
            <a:r>
              <a:rPr lang="en-US" sz="2639" spc="58" strike="noStrike" u="none">
                <a:solidFill>
                  <a:srgbClr val="EDE8E4"/>
                </a:solidFill>
                <a:latin typeface="Glacial Indifference"/>
                <a:ea typeface="Glacial Indifference"/>
                <a:cs typeface="Glacial Indifference"/>
                <a:sym typeface="Glacial Indifference"/>
              </a:rPr>
              <a:t>Improving our problem-solving skills by learning how global companies tackle challenges.</a:t>
            </a:r>
          </a:p>
          <a:p>
            <a:pPr algn="ctr" marL="569775" indent="-284888" lvl="1">
              <a:lnSpc>
                <a:spcPts val="3694"/>
              </a:lnSpc>
              <a:buFont typeface="Arial"/>
              <a:buChar char="•"/>
            </a:pPr>
            <a:r>
              <a:rPr lang="en-US" sz="2639" spc="58" strike="noStrike" u="none">
                <a:solidFill>
                  <a:srgbClr val="EDE8E4"/>
                </a:solidFill>
                <a:latin typeface="Glacial Indifference"/>
                <a:ea typeface="Glacial Indifference"/>
                <a:cs typeface="Glacial Indifference"/>
                <a:sym typeface="Glacial Indifference"/>
              </a:rPr>
              <a:t>Boosting creativity and innovation – by seeing how other teams approach product development.</a:t>
            </a:r>
          </a:p>
          <a:p>
            <a:pPr algn="ctr" marL="569775" indent="-284888" lvl="1">
              <a:lnSpc>
                <a:spcPts val="3694"/>
              </a:lnSpc>
              <a:buFont typeface="Arial"/>
              <a:buChar char="•"/>
            </a:pPr>
            <a:r>
              <a:rPr lang="en-US" sz="2639" spc="58" strike="noStrike" u="none">
                <a:solidFill>
                  <a:srgbClr val="EDE8E4"/>
                </a:solidFill>
                <a:latin typeface="Glacial Indifference"/>
                <a:ea typeface="Glacial Indifference"/>
                <a:cs typeface="Glacial Indifference"/>
                <a:sym typeface="Glacial Indifference"/>
              </a:rPr>
              <a:t>Strengthening our professional network – opening doors for future collaborations.</a:t>
            </a:r>
          </a:p>
          <a:p>
            <a:pPr algn="ctr">
              <a:lnSpc>
                <a:spcPts val="3694"/>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TextBox 2" id="2"/>
          <p:cNvSpPr txBox="true"/>
          <p:nvPr/>
        </p:nvSpPr>
        <p:spPr>
          <a:xfrm rot="0">
            <a:off x="1183665" y="-114300"/>
            <a:ext cx="16075635" cy="2094808"/>
          </a:xfrm>
          <a:prstGeom prst="rect">
            <a:avLst/>
          </a:prstGeom>
        </p:spPr>
        <p:txBody>
          <a:bodyPr anchor="t" rtlCol="false" tIns="0" lIns="0" bIns="0" rIns="0">
            <a:spAutoFit/>
          </a:bodyPr>
          <a:lstStyle/>
          <a:p>
            <a:pPr algn="ctr" marL="0" indent="0" lvl="0">
              <a:lnSpc>
                <a:spcPts val="8438"/>
              </a:lnSpc>
              <a:spcBef>
                <a:spcPct val="0"/>
              </a:spcBef>
            </a:pPr>
            <a:r>
              <a:rPr lang="en-US" b="true" sz="6027" spc="566">
                <a:solidFill>
                  <a:srgbClr val="152540"/>
                </a:solidFill>
                <a:latin typeface="Glacial Indifference Bold"/>
                <a:ea typeface="Glacial Indifference Bold"/>
                <a:cs typeface="Glacial Indifference Bold"/>
                <a:sym typeface="Glacial Indifference Bold"/>
              </a:rPr>
              <a:t>BEYO</a:t>
            </a:r>
            <a:r>
              <a:rPr lang="en-US" b="true" sz="6027" spc="566" strike="noStrike" u="none">
                <a:solidFill>
                  <a:srgbClr val="152540"/>
                </a:solidFill>
                <a:latin typeface="Glacial Indifference Bold"/>
                <a:ea typeface="Glacial Indifference Bold"/>
                <a:cs typeface="Glacial Indifference Bold"/>
                <a:sym typeface="Glacial Indifference Bold"/>
              </a:rPr>
              <a:t>ND WORK: CULTURAL ENRICHMENT</a:t>
            </a:r>
          </a:p>
        </p:txBody>
      </p:sp>
      <p:sp>
        <p:nvSpPr>
          <p:cNvPr name="Freeform 3" id="3"/>
          <p:cNvSpPr/>
          <p:nvPr/>
        </p:nvSpPr>
        <p:spPr>
          <a:xfrm flipH="false" flipV="false" rot="0">
            <a:off x="-290950" y="-2033784"/>
            <a:ext cx="5544196" cy="5181303"/>
          </a:xfrm>
          <a:custGeom>
            <a:avLst/>
            <a:gdLst/>
            <a:ahLst/>
            <a:cxnLst/>
            <a:rect r="r" b="b" t="t" l="l"/>
            <a:pathLst>
              <a:path h="5181303" w="5544196">
                <a:moveTo>
                  <a:pt x="0" y="0"/>
                </a:moveTo>
                <a:lnTo>
                  <a:pt x="5544196" y="0"/>
                </a:lnTo>
                <a:lnTo>
                  <a:pt x="5544196" y="5181303"/>
                </a:lnTo>
                <a:lnTo>
                  <a:pt x="0" y="51813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false" flipV="false" rot="5400000">
            <a:off x="13112837" y="-1659911"/>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5521968">
            <a:off x="-1614569" y="6194806"/>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10800000">
            <a:off x="12370954" y="7223506"/>
            <a:ext cx="6556116" cy="6126988"/>
          </a:xfrm>
          <a:custGeom>
            <a:avLst/>
            <a:gdLst/>
            <a:ahLst/>
            <a:cxnLst/>
            <a:rect r="r" b="b" t="t" l="l"/>
            <a:pathLst>
              <a:path h="6126988" w="6556116">
                <a:moveTo>
                  <a:pt x="0" y="0"/>
                </a:moveTo>
                <a:lnTo>
                  <a:pt x="6556116" y="0"/>
                </a:lnTo>
                <a:lnTo>
                  <a:pt x="6556116" y="6126988"/>
                </a:lnTo>
                <a:lnTo>
                  <a:pt x="0" y="6126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0979859" y="4647148"/>
            <a:ext cx="6934137" cy="5152716"/>
          </a:xfrm>
          <a:custGeom>
            <a:avLst/>
            <a:gdLst/>
            <a:ahLst/>
            <a:cxnLst/>
            <a:rect r="r" b="b" t="t" l="l"/>
            <a:pathLst>
              <a:path h="5152716" w="6934137">
                <a:moveTo>
                  <a:pt x="0" y="0"/>
                </a:moveTo>
                <a:lnTo>
                  <a:pt x="6934137" y="0"/>
                </a:lnTo>
                <a:lnTo>
                  <a:pt x="6934137" y="5152716"/>
                </a:lnTo>
                <a:lnTo>
                  <a:pt x="0" y="5152716"/>
                </a:lnTo>
                <a:lnTo>
                  <a:pt x="0" y="0"/>
                </a:lnTo>
                <a:close/>
              </a:path>
            </a:pathLst>
          </a:custGeom>
          <a:blipFill>
            <a:blip r:embed="rId6"/>
            <a:stretch>
              <a:fillRect l="-13027" t="0" r="0" b="-1402"/>
            </a:stretch>
          </a:blipFill>
        </p:spPr>
      </p:sp>
      <p:sp>
        <p:nvSpPr>
          <p:cNvPr name="TextBox 8" id="8"/>
          <p:cNvSpPr txBox="true"/>
          <p:nvPr/>
        </p:nvSpPr>
        <p:spPr>
          <a:xfrm rot="0">
            <a:off x="487958" y="3090369"/>
            <a:ext cx="9986423" cy="5721626"/>
          </a:xfrm>
          <a:prstGeom prst="rect">
            <a:avLst/>
          </a:prstGeom>
        </p:spPr>
        <p:txBody>
          <a:bodyPr anchor="t" rtlCol="false" tIns="0" lIns="0" bIns="0" rIns="0">
            <a:spAutoFit/>
          </a:bodyPr>
          <a:lstStyle/>
          <a:p>
            <a:pPr algn="ctr">
              <a:lnSpc>
                <a:spcPts val="4142"/>
              </a:lnSpc>
            </a:pPr>
            <a:r>
              <a:rPr lang="en-US" sz="2959" spc="65">
                <a:solidFill>
                  <a:srgbClr val="152540"/>
                </a:solidFill>
                <a:latin typeface="Glacial Indifference"/>
                <a:ea typeface="Glacial Indifference"/>
                <a:cs typeface="Glacial Indifference"/>
                <a:sym typeface="Glacial Indifference"/>
              </a:rPr>
              <a:t>T</a:t>
            </a:r>
            <a:r>
              <a:rPr lang="en-US" sz="2959" spc="65" strike="noStrike" u="none">
                <a:solidFill>
                  <a:srgbClr val="152540"/>
                </a:solidFill>
                <a:latin typeface="Glacial Indifference"/>
                <a:ea typeface="Glacial Indifference"/>
                <a:cs typeface="Glacial Indifference"/>
                <a:sym typeface="Glacial Indifference"/>
              </a:rPr>
              <a:t>raveling also enriches us personally. In San Francisco, we can:</a:t>
            </a:r>
          </a:p>
          <a:p>
            <a:pPr algn="ctr" marL="638870" indent="-319435" lvl="1">
              <a:lnSpc>
                <a:spcPts val="4142"/>
              </a:lnSpc>
              <a:buFont typeface="Arial"/>
              <a:buChar char="•"/>
            </a:pPr>
            <a:r>
              <a:rPr lang="en-US" sz="2959" spc="65" strike="noStrike" u="none">
                <a:solidFill>
                  <a:srgbClr val="152540"/>
                </a:solidFill>
                <a:latin typeface="Glacial Indifference"/>
                <a:ea typeface="Glacial Indifference"/>
                <a:cs typeface="Glacial Indifference"/>
                <a:sym typeface="Glacial Indifference"/>
              </a:rPr>
              <a:t>Experience cultural diversity through its neighborhoods (Chinatown, Little Italy).</a:t>
            </a:r>
          </a:p>
          <a:p>
            <a:pPr algn="ctr" marL="638870" indent="-319435" lvl="1">
              <a:lnSpc>
                <a:spcPts val="4142"/>
              </a:lnSpc>
              <a:buFont typeface="Arial"/>
              <a:buChar char="•"/>
            </a:pPr>
            <a:r>
              <a:rPr lang="en-US" sz="2959" spc="65" strike="noStrike" u="none">
                <a:solidFill>
                  <a:srgbClr val="152540"/>
                </a:solidFill>
                <a:latin typeface="Glacial Indifference"/>
                <a:ea typeface="Glacial Indifference"/>
                <a:cs typeface="Glacial Indifference"/>
                <a:sym typeface="Glacial Indifference"/>
              </a:rPr>
              <a:t>Visit museums and historical landmarks like Alcatraz Island.</a:t>
            </a:r>
          </a:p>
          <a:p>
            <a:pPr algn="ctr" marL="638870" indent="-319435" lvl="1">
              <a:lnSpc>
                <a:spcPts val="4142"/>
              </a:lnSpc>
              <a:buFont typeface="Arial"/>
              <a:buChar char="•"/>
            </a:pPr>
            <a:r>
              <a:rPr lang="en-US" sz="2959" spc="65" strike="noStrike" u="none">
                <a:solidFill>
                  <a:srgbClr val="152540"/>
                </a:solidFill>
                <a:latin typeface="Glacial Indifference"/>
                <a:ea typeface="Glacial Indifference"/>
                <a:cs typeface="Glacial Indifference"/>
                <a:sym typeface="Glacial Indifference"/>
              </a:rPr>
              <a:t>Practice English in real-world business and social settings.</a:t>
            </a:r>
          </a:p>
          <a:p>
            <a:pPr algn="ctr" marL="638870" indent="-319435" lvl="1">
              <a:lnSpc>
                <a:spcPts val="4142"/>
              </a:lnSpc>
              <a:buFont typeface="Arial"/>
              <a:buChar char="•"/>
            </a:pPr>
            <a:r>
              <a:rPr lang="en-US" sz="2959" spc="65" strike="noStrike" u="none">
                <a:solidFill>
                  <a:srgbClr val="152540"/>
                </a:solidFill>
                <a:latin typeface="Glacial Indifference"/>
                <a:ea typeface="Glacial Indifference"/>
                <a:cs typeface="Glacial Indifference"/>
                <a:sym typeface="Glacial Indifference"/>
              </a:rPr>
              <a:t>Build stronger team relationships through shared experiences.</a:t>
            </a:r>
          </a:p>
          <a:p>
            <a:pPr algn="ctr">
              <a:lnSpc>
                <a:spcPts val="414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sp>
        <p:nvSpPr>
          <p:cNvPr name="Freeform 2" id="2"/>
          <p:cNvSpPr/>
          <p:nvPr/>
        </p:nvSpPr>
        <p:spPr>
          <a:xfrm flipH="false" flipV="false" rot="-8798399">
            <a:off x="13156923" y="1016610"/>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8798399">
            <a:off x="-2994864" y="-8645988"/>
            <a:ext cx="9798172" cy="13143890"/>
          </a:xfrm>
          <a:custGeom>
            <a:avLst/>
            <a:gdLst/>
            <a:ahLst/>
            <a:cxnLst/>
            <a:rect r="r" b="b" t="t" l="l"/>
            <a:pathLst>
              <a:path h="13143890" w="9798172">
                <a:moveTo>
                  <a:pt x="0" y="0"/>
                </a:moveTo>
                <a:lnTo>
                  <a:pt x="9798173" y="0"/>
                </a:lnTo>
                <a:lnTo>
                  <a:pt x="9798173" y="13143890"/>
                </a:lnTo>
                <a:lnTo>
                  <a:pt x="0" y="131438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4" id="4"/>
          <p:cNvGrpSpPr/>
          <p:nvPr/>
        </p:nvGrpSpPr>
        <p:grpSpPr>
          <a:xfrm rot="0">
            <a:off x="9809871" y="4711392"/>
            <a:ext cx="7649306" cy="5575608"/>
            <a:chOff x="0" y="0"/>
            <a:chExt cx="2478739" cy="1806762"/>
          </a:xfrm>
        </p:grpSpPr>
        <p:sp>
          <p:nvSpPr>
            <p:cNvPr name="Freeform 5" id="5"/>
            <p:cNvSpPr/>
            <p:nvPr/>
          </p:nvSpPr>
          <p:spPr>
            <a:xfrm flipH="false" flipV="false" rot="0">
              <a:off x="0" y="0"/>
              <a:ext cx="2478739" cy="1806762"/>
            </a:xfrm>
            <a:custGeom>
              <a:avLst/>
              <a:gdLst/>
              <a:ahLst/>
              <a:cxnLst/>
              <a:rect r="r" b="b" t="t" l="l"/>
              <a:pathLst>
                <a:path h="1806762" w="2478739">
                  <a:moveTo>
                    <a:pt x="39472" y="0"/>
                  </a:moveTo>
                  <a:lnTo>
                    <a:pt x="2439267" y="0"/>
                  </a:lnTo>
                  <a:cubicBezTo>
                    <a:pt x="2449736" y="0"/>
                    <a:pt x="2459775" y="4159"/>
                    <a:pt x="2467178" y="11561"/>
                  </a:cubicBezTo>
                  <a:cubicBezTo>
                    <a:pt x="2474580" y="18964"/>
                    <a:pt x="2478739" y="29004"/>
                    <a:pt x="2478739" y="39472"/>
                  </a:cubicBezTo>
                  <a:lnTo>
                    <a:pt x="2478739" y="1767290"/>
                  </a:lnTo>
                  <a:cubicBezTo>
                    <a:pt x="2478739" y="1777759"/>
                    <a:pt x="2474580" y="1787798"/>
                    <a:pt x="2467178" y="1795201"/>
                  </a:cubicBezTo>
                  <a:cubicBezTo>
                    <a:pt x="2459775" y="1802603"/>
                    <a:pt x="2449736" y="1806762"/>
                    <a:pt x="2439267" y="1806762"/>
                  </a:cubicBezTo>
                  <a:lnTo>
                    <a:pt x="39472" y="1806762"/>
                  </a:lnTo>
                  <a:cubicBezTo>
                    <a:pt x="29004" y="1806762"/>
                    <a:pt x="18964" y="1802603"/>
                    <a:pt x="11561" y="1795201"/>
                  </a:cubicBezTo>
                  <a:cubicBezTo>
                    <a:pt x="4159" y="1787798"/>
                    <a:pt x="0" y="1777759"/>
                    <a:pt x="0" y="1767290"/>
                  </a:cubicBezTo>
                  <a:lnTo>
                    <a:pt x="0" y="39472"/>
                  </a:lnTo>
                  <a:cubicBezTo>
                    <a:pt x="0" y="29004"/>
                    <a:pt x="4159" y="18964"/>
                    <a:pt x="11561" y="11561"/>
                  </a:cubicBezTo>
                  <a:cubicBezTo>
                    <a:pt x="18964" y="4159"/>
                    <a:pt x="29004" y="0"/>
                    <a:pt x="39472" y="0"/>
                  </a:cubicBezTo>
                  <a:close/>
                </a:path>
              </a:pathLst>
            </a:custGeom>
            <a:solidFill>
              <a:srgbClr val="253754"/>
            </a:solidFill>
            <a:ln cap="rnd">
              <a:noFill/>
              <a:prstDash val="solid"/>
              <a:round/>
            </a:ln>
          </p:spPr>
        </p:sp>
        <p:sp>
          <p:nvSpPr>
            <p:cNvPr name="TextBox 6" id="6"/>
            <p:cNvSpPr txBox="true"/>
            <p:nvPr/>
          </p:nvSpPr>
          <p:spPr>
            <a:xfrm>
              <a:off x="0" y="9525"/>
              <a:ext cx="2478739" cy="1797237"/>
            </a:xfrm>
            <a:prstGeom prst="rect">
              <a:avLst/>
            </a:prstGeom>
          </p:spPr>
          <p:txBody>
            <a:bodyPr anchor="ctr" rtlCol="false" tIns="50800" lIns="50800" bIns="50800" rIns="50800"/>
            <a:lstStyle/>
            <a:p>
              <a:pPr algn="ctr">
                <a:lnSpc>
                  <a:spcPts val="2121"/>
                </a:lnSpc>
              </a:pPr>
            </a:p>
          </p:txBody>
        </p:sp>
      </p:grpSp>
      <p:sp>
        <p:nvSpPr>
          <p:cNvPr name="Freeform 7" id="7"/>
          <p:cNvSpPr/>
          <p:nvPr/>
        </p:nvSpPr>
        <p:spPr>
          <a:xfrm flipH="false" flipV="false" rot="9961243">
            <a:off x="12217193" y="-3026777"/>
            <a:ext cx="10084214" cy="8727429"/>
          </a:xfrm>
          <a:custGeom>
            <a:avLst/>
            <a:gdLst/>
            <a:ahLst/>
            <a:cxnLst/>
            <a:rect r="r" b="b" t="t" l="l"/>
            <a:pathLst>
              <a:path h="8727429" w="10084214">
                <a:moveTo>
                  <a:pt x="0" y="0"/>
                </a:moveTo>
                <a:lnTo>
                  <a:pt x="10084214" y="0"/>
                </a:lnTo>
                <a:lnTo>
                  <a:pt x="10084214" y="8727429"/>
                </a:lnTo>
                <a:lnTo>
                  <a:pt x="0" y="87274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976001">
            <a:off x="-4614341" y="5979010"/>
            <a:ext cx="9228681" cy="7987004"/>
          </a:xfrm>
          <a:custGeom>
            <a:avLst/>
            <a:gdLst/>
            <a:ahLst/>
            <a:cxnLst/>
            <a:rect r="r" b="b" t="t" l="l"/>
            <a:pathLst>
              <a:path h="7987004" w="9228681">
                <a:moveTo>
                  <a:pt x="0" y="0"/>
                </a:moveTo>
                <a:lnTo>
                  <a:pt x="9228682" y="0"/>
                </a:lnTo>
                <a:lnTo>
                  <a:pt x="9228682" y="7987004"/>
                </a:lnTo>
                <a:lnTo>
                  <a:pt x="0" y="79870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false" flipV="false" rot="0">
            <a:off x="421313" y="3373956"/>
            <a:ext cx="8133256" cy="6107023"/>
          </a:xfrm>
          <a:custGeom>
            <a:avLst/>
            <a:gdLst/>
            <a:ahLst/>
            <a:cxnLst/>
            <a:rect r="r" b="b" t="t" l="l"/>
            <a:pathLst>
              <a:path h="6107023" w="8133256">
                <a:moveTo>
                  <a:pt x="0" y="0"/>
                </a:moveTo>
                <a:lnTo>
                  <a:pt x="8133256" y="0"/>
                </a:lnTo>
                <a:lnTo>
                  <a:pt x="8133256" y="6107023"/>
                </a:lnTo>
                <a:lnTo>
                  <a:pt x="0" y="6107023"/>
                </a:lnTo>
                <a:lnTo>
                  <a:pt x="0" y="0"/>
                </a:lnTo>
                <a:close/>
              </a:path>
            </a:pathLst>
          </a:custGeom>
          <a:blipFill>
            <a:blip r:embed="rId6"/>
            <a:stretch>
              <a:fillRect l="-2484" t="-1183" r="0" b="-1183"/>
            </a:stretch>
          </a:blipFill>
        </p:spPr>
      </p:sp>
      <p:sp>
        <p:nvSpPr>
          <p:cNvPr name="TextBox 10" id="10"/>
          <p:cNvSpPr txBox="true"/>
          <p:nvPr/>
        </p:nvSpPr>
        <p:spPr>
          <a:xfrm rot="0">
            <a:off x="1359416" y="247825"/>
            <a:ext cx="8990822" cy="2054400"/>
          </a:xfrm>
          <a:prstGeom prst="rect">
            <a:avLst/>
          </a:prstGeom>
        </p:spPr>
        <p:txBody>
          <a:bodyPr anchor="t" rtlCol="false" tIns="0" lIns="0" bIns="0" rIns="0">
            <a:spAutoFit/>
          </a:bodyPr>
          <a:lstStyle/>
          <a:p>
            <a:pPr algn="l">
              <a:lnSpc>
                <a:spcPts val="8229"/>
              </a:lnSpc>
            </a:pPr>
            <a:r>
              <a:rPr lang="en-US" sz="5877" spc="552">
                <a:solidFill>
                  <a:srgbClr val="152540"/>
                </a:solidFill>
                <a:latin typeface="Glacial Indifference"/>
                <a:ea typeface="Glacial Indifference"/>
                <a:cs typeface="Glacial Indifference"/>
                <a:sym typeface="Glacial Indifference"/>
              </a:rPr>
              <a:t>TRIP COST OVERVIEW</a:t>
            </a:r>
          </a:p>
          <a:p>
            <a:pPr algn="l">
              <a:lnSpc>
                <a:spcPts val="8229"/>
              </a:lnSpc>
            </a:pPr>
          </a:p>
        </p:txBody>
      </p:sp>
      <p:sp>
        <p:nvSpPr>
          <p:cNvPr name="TextBox 11" id="11"/>
          <p:cNvSpPr txBox="true"/>
          <p:nvPr/>
        </p:nvSpPr>
        <p:spPr>
          <a:xfrm rot="0">
            <a:off x="10009749" y="5218286"/>
            <a:ext cx="7249551" cy="4040014"/>
          </a:xfrm>
          <a:prstGeom prst="rect">
            <a:avLst/>
          </a:prstGeom>
        </p:spPr>
        <p:txBody>
          <a:bodyPr anchor="t" rtlCol="false" tIns="0" lIns="0" bIns="0" rIns="0">
            <a:spAutoFit/>
          </a:bodyPr>
          <a:lstStyle/>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Concept Estimated Cost (USD)</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Flights (round trip) $800</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Accommodation (5 nights) $1,000</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Conference ticket $500</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Meals &amp; Transport $400</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Miscellaneous $300</a:t>
            </a:r>
          </a:p>
          <a:p>
            <a:pPr algn="ctr">
              <a:lnSpc>
                <a:spcPts val="4579"/>
              </a:lnSpc>
              <a:spcBef>
                <a:spcPct val="0"/>
              </a:spcBef>
            </a:pPr>
            <a:r>
              <a:rPr lang="en-US" b="true" sz="3271" spc="71">
                <a:solidFill>
                  <a:srgbClr val="FFFFFF"/>
                </a:solidFill>
                <a:latin typeface="Glacial Indifference Bold"/>
                <a:ea typeface="Glacial Indifference Bold"/>
                <a:cs typeface="Glacial Indifference Bold"/>
                <a:sym typeface="Glacial Indifference Bold"/>
              </a:rPr>
              <a:t>Total $3,000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8E4"/>
        </a:solidFill>
      </p:bgPr>
    </p:bg>
    <p:spTree>
      <p:nvGrpSpPr>
        <p:cNvPr id="1" name=""/>
        <p:cNvGrpSpPr/>
        <p:nvPr/>
      </p:nvGrpSpPr>
      <p:grpSpPr>
        <a:xfrm>
          <a:off x="0" y="0"/>
          <a:ext cx="0" cy="0"/>
          <a:chOff x="0" y="0"/>
          <a:chExt cx="0" cy="0"/>
        </a:xfrm>
      </p:grpSpPr>
      <p:grpSp>
        <p:nvGrpSpPr>
          <p:cNvPr name="Group 2" id="2"/>
          <p:cNvGrpSpPr/>
          <p:nvPr/>
        </p:nvGrpSpPr>
        <p:grpSpPr>
          <a:xfrm rot="0">
            <a:off x="-514350" y="-1580379"/>
            <a:ext cx="19050326" cy="5975359"/>
            <a:chOff x="0" y="0"/>
            <a:chExt cx="5017370" cy="1573757"/>
          </a:xfrm>
        </p:grpSpPr>
        <p:sp>
          <p:nvSpPr>
            <p:cNvPr name="Freeform 3" id="3"/>
            <p:cNvSpPr/>
            <p:nvPr/>
          </p:nvSpPr>
          <p:spPr>
            <a:xfrm flipH="false" flipV="false" rot="0">
              <a:off x="0" y="0"/>
              <a:ext cx="5017370" cy="1573757"/>
            </a:xfrm>
            <a:custGeom>
              <a:avLst/>
              <a:gdLst/>
              <a:ahLst/>
              <a:cxnLst/>
              <a:rect r="r" b="b" t="t" l="l"/>
              <a:pathLst>
                <a:path h="1573757" w="5017370">
                  <a:moveTo>
                    <a:pt x="0" y="0"/>
                  </a:moveTo>
                  <a:lnTo>
                    <a:pt x="5017370" y="0"/>
                  </a:lnTo>
                  <a:lnTo>
                    <a:pt x="5017370" y="1573757"/>
                  </a:lnTo>
                  <a:lnTo>
                    <a:pt x="0" y="1573757"/>
                  </a:lnTo>
                  <a:close/>
                </a:path>
              </a:pathLst>
            </a:custGeom>
            <a:solidFill>
              <a:srgbClr val="253754"/>
            </a:solidFill>
            <a:ln cap="sq">
              <a:noFill/>
              <a:prstDash val="solid"/>
              <a:miter/>
            </a:ln>
          </p:spPr>
        </p:sp>
        <p:sp>
          <p:nvSpPr>
            <p:cNvPr name="TextBox 4" id="4"/>
            <p:cNvSpPr txBox="true"/>
            <p:nvPr/>
          </p:nvSpPr>
          <p:spPr>
            <a:xfrm>
              <a:off x="0" y="9525"/>
              <a:ext cx="5017370" cy="1564232"/>
            </a:xfrm>
            <a:prstGeom prst="rect">
              <a:avLst/>
            </a:prstGeom>
          </p:spPr>
          <p:txBody>
            <a:bodyPr anchor="ctr" rtlCol="false" tIns="50800" lIns="50800" bIns="50800" rIns="50800"/>
            <a:lstStyle/>
            <a:p>
              <a:pPr algn="ctr">
                <a:lnSpc>
                  <a:spcPts val="2121"/>
                </a:lnSpc>
              </a:pPr>
            </a:p>
          </p:txBody>
        </p:sp>
      </p:grpSp>
      <p:sp>
        <p:nvSpPr>
          <p:cNvPr name="Freeform 5" id="5"/>
          <p:cNvSpPr/>
          <p:nvPr/>
        </p:nvSpPr>
        <p:spPr>
          <a:xfrm flipH="false" flipV="false" rot="0">
            <a:off x="570657" y="0"/>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44452" y="252496"/>
            <a:ext cx="1488904" cy="1931362"/>
          </a:xfrm>
          <a:custGeom>
            <a:avLst/>
            <a:gdLst/>
            <a:ahLst/>
            <a:cxnLst/>
            <a:rect r="r" b="b" t="t" l="l"/>
            <a:pathLst>
              <a:path h="1931362" w="1488904">
                <a:moveTo>
                  <a:pt x="0" y="0"/>
                </a:moveTo>
                <a:lnTo>
                  <a:pt x="1488904" y="0"/>
                </a:lnTo>
                <a:lnTo>
                  <a:pt x="1488904" y="1931362"/>
                </a:lnTo>
                <a:lnTo>
                  <a:pt x="0" y="19313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6059768" y="8423117"/>
            <a:ext cx="2476208" cy="3212062"/>
          </a:xfrm>
          <a:custGeom>
            <a:avLst/>
            <a:gdLst/>
            <a:ahLst/>
            <a:cxnLst/>
            <a:rect r="r" b="b" t="t" l="l"/>
            <a:pathLst>
              <a:path h="3212062" w="2476208">
                <a:moveTo>
                  <a:pt x="0" y="0"/>
                </a:moveTo>
                <a:lnTo>
                  <a:pt x="2476208" y="0"/>
                </a:lnTo>
                <a:lnTo>
                  <a:pt x="2476208" y="3212062"/>
                </a:lnTo>
                <a:lnTo>
                  <a:pt x="0" y="32120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0196295" y="5143500"/>
            <a:ext cx="7335807" cy="4885648"/>
          </a:xfrm>
          <a:custGeom>
            <a:avLst/>
            <a:gdLst/>
            <a:ahLst/>
            <a:cxnLst/>
            <a:rect r="r" b="b" t="t" l="l"/>
            <a:pathLst>
              <a:path h="4885648" w="7335807">
                <a:moveTo>
                  <a:pt x="0" y="0"/>
                </a:moveTo>
                <a:lnTo>
                  <a:pt x="7335807" y="0"/>
                </a:lnTo>
                <a:lnTo>
                  <a:pt x="7335807" y="4885648"/>
                </a:lnTo>
                <a:lnTo>
                  <a:pt x="0" y="4885648"/>
                </a:lnTo>
                <a:lnTo>
                  <a:pt x="0" y="0"/>
                </a:lnTo>
                <a:close/>
              </a:path>
            </a:pathLst>
          </a:custGeom>
          <a:blipFill>
            <a:blip r:embed="rId6"/>
            <a:stretch>
              <a:fillRect l="0" t="0" r="0" b="0"/>
            </a:stretch>
          </a:blipFill>
        </p:spPr>
      </p:sp>
      <p:sp>
        <p:nvSpPr>
          <p:cNvPr name="TextBox 9" id="9"/>
          <p:cNvSpPr txBox="true"/>
          <p:nvPr/>
        </p:nvSpPr>
        <p:spPr>
          <a:xfrm rot="0">
            <a:off x="4848468" y="1075302"/>
            <a:ext cx="8324690" cy="2547564"/>
          </a:xfrm>
          <a:prstGeom prst="rect">
            <a:avLst/>
          </a:prstGeom>
        </p:spPr>
        <p:txBody>
          <a:bodyPr anchor="t" rtlCol="false" tIns="0" lIns="0" bIns="0" rIns="0">
            <a:spAutoFit/>
          </a:bodyPr>
          <a:lstStyle/>
          <a:p>
            <a:pPr algn="ctr">
              <a:lnSpc>
                <a:spcPts val="10258"/>
              </a:lnSpc>
            </a:pPr>
            <a:r>
              <a:rPr lang="en-US" b="true" sz="7327" spc="688">
                <a:solidFill>
                  <a:srgbClr val="EDE8E4"/>
                </a:solidFill>
                <a:latin typeface="Glacial Indifference Bold"/>
                <a:ea typeface="Glacial Indifference Bold"/>
                <a:cs typeface="Glacial Indifference Bold"/>
                <a:sym typeface="Glacial Indifference Bold"/>
              </a:rPr>
              <a:t>WHAT WE WILL ACHIEVE</a:t>
            </a:r>
          </a:p>
        </p:txBody>
      </p:sp>
      <p:sp>
        <p:nvSpPr>
          <p:cNvPr name="TextBox 10" id="10"/>
          <p:cNvSpPr txBox="true"/>
          <p:nvPr/>
        </p:nvSpPr>
        <p:spPr>
          <a:xfrm rot="0">
            <a:off x="284248" y="4880756"/>
            <a:ext cx="8299068" cy="4640170"/>
          </a:xfrm>
          <a:prstGeom prst="rect">
            <a:avLst/>
          </a:prstGeom>
        </p:spPr>
        <p:txBody>
          <a:bodyPr anchor="t" rtlCol="false" tIns="0" lIns="0" bIns="0" rIns="0">
            <a:spAutoFit/>
          </a:bodyPr>
          <a:lstStyle/>
          <a:p>
            <a:pPr algn="ctr">
              <a:lnSpc>
                <a:spcPts val="4076"/>
              </a:lnSpc>
              <a:spcBef>
                <a:spcPct val="0"/>
              </a:spcBef>
            </a:pPr>
            <a:r>
              <a:rPr lang="en-US" b="true" sz="2911" spc="29">
                <a:solidFill>
                  <a:srgbClr val="536387"/>
                </a:solidFill>
                <a:latin typeface="Glacial Indifference Bold"/>
                <a:ea typeface="Glacial Indifference Bold"/>
                <a:cs typeface="Glacial Indifference Bold"/>
                <a:sym typeface="Glacial Indifference Bold"/>
              </a:rPr>
              <a:t>After this trip, we expect to:</a:t>
            </a:r>
          </a:p>
          <a:p>
            <a:pPr algn="ctr">
              <a:lnSpc>
                <a:spcPts val="4076"/>
              </a:lnSpc>
              <a:spcBef>
                <a:spcPct val="0"/>
              </a:spcBef>
            </a:pPr>
            <a:r>
              <a:rPr lang="en-US" b="true" sz="2911" spc="29">
                <a:solidFill>
                  <a:srgbClr val="536387"/>
                </a:solidFill>
                <a:latin typeface="Glacial Indifference Bold"/>
                <a:ea typeface="Glacial Indifference Bold"/>
                <a:cs typeface="Glacial Indifference Bold"/>
                <a:sym typeface="Glacial Indifference Bold"/>
              </a:rPr>
              <a:t>Implement at least one new conference practice in our workflow.</a:t>
            </a:r>
          </a:p>
          <a:p>
            <a:pPr algn="ctr">
              <a:lnSpc>
                <a:spcPts val="4076"/>
              </a:lnSpc>
              <a:spcBef>
                <a:spcPct val="0"/>
              </a:spcBef>
            </a:pPr>
            <a:r>
              <a:rPr lang="en-US" b="true" sz="2911" spc="29">
                <a:solidFill>
                  <a:srgbClr val="536387"/>
                </a:solidFill>
                <a:latin typeface="Glacial Indifference Bold"/>
                <a:ea typeface="Glacial Indifference Bold"/>
                <a:cs typeface="Glacial Indifference Bold"/>
                <a:sym typeface="Glacial Indifference Bold"/>
              </a:rPr>
              <a:t>Share key learnings with the team in a presentation.</a:t>
            </a:r>
          </a:p>
          <a:p>
            <a:pPr algn="ctr">
              <a:lnSpc>
                <a:spcPts val="4076"/>
              </a:lnSpc>
              <a:spcBef>
                <a:spcPct val="0"/>
              </a:spcBef>
            </a:pPr>
            <a:r>
              <a:rPr lang="en-US" b="true" sz="2911" spc="29">
                <a:solidFill>
                  <a:srgbClr val="536387"/>
                </a:solidFill>
                <a:latin typeface="Glacial Indifference Bold"/>
                <a:ea typeface="Glacial Indifference Bold"/>
                <a:cs typeface="Glacial Indifference Bold"/>
                <a:sym typeface="Glacial Indifference Bold"/>
              </a:rPr>
              <a:t>Explore potential tools that can optimize our development processes.</a:t>
            </a:r>
          </a:p>
          <a:p>
            <a:pPr algn="ctr">
              <a:lnSpc>
                <a:spcPts val="4076"/>
              </a:lnSpc>
              <a:spcBef>
                <a:spcPct val="0"/>
              </a:spcBef>
            </a:pPr>
            <a:r>
              <a:rPr lang="en-US" b="true" sz="2911" spc="29">
                <a:solidFill>
                  <a:srgbClr val="536387"/>
                </a:solidFill>
                <a:latin typeface="Glacial Indifference Bold"/>
                <a:ea typeface="Glacial Indifference Bold"/>
                <a:cs typeface="Glacial Indifference Bold"/>
                <a:sym typeface="Glacial Indifference Bold"/>
              </a:rPr>
              <a:t>Strengthen our company’s reputation by connecting with international peers.</a:t>
            </a:r>
          </a:p>
        </p:txBody>
      </p:sp>
      <p:sp>
        <p:nvSpPr>
          <p:cNvPr name="Freeform 11" id="11"/>
          <p:cNvSpPr/>
          <p:nvPr/>
        </p:nvSpPr>
        <p:spPr>
          <a:xfrm flipH="false" flipV="false" rot="0">
            <a:off x="15859511" y="-41772"/>
            <a:ext cx="2476208" cy="3212062"/>
          </a:xfrm>
          <a:custGeom>
            <a:avLst/>
            <a:gdLst/>
            <a:ahLst/>
            <a:cxnLst/>
            <a:rect r="r" b="b" t="t" l="l"/>
            <a:pathLst>
              <a:path h="3212062" w="2476208">
                <a:moveTo>
                  <a:pt x="0" y="0"/>
                </a:moveTo>
                <a:lnTo>
                  <a:pt x="2476207" y="0"/>
                </a:lnTo>
                <a:lnTo>
                  <a:pt x="2476207" y="3212062"/>
                </a:lnTo>
                <a:lnTo>
                  <a:pt x="0" y="32120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sp>
        <p:nvSpPr>
          <p:cNvPr name="TextBox 2" id="2"/>
          <p:cNvSpPr txBox="true"/>
          <p:nvPr/>
        </p:nvSpPr>
        <p:spPr>
          <a:xfrm rot="0">
            <a:off x="1732801" y="598738"/>
            <a:ext cx="8826607" cy="2547564"/>
          </a:xfrm>
          <a:prstGeom prst="rect">
            <a:avLst/>
          </a:prstGeom>
        </p:spPr>
        <p:txBody>
          <a:bodyPr anchor="t" rtlCol="false" tIns="0" lIns="0" bIns="0" rIns="0">
            <a:spAutoFit/>
          </a:bodyPr>
          <a:lstStyle/>
          <a:p>
            <a:pPr algn="l">
              <a:lnSpc>
                <a:spcPts val="10258"/>
              </a:lnSpc>
            </a:pPr>
            <a:r>
              <a:rPr lang="en-US" b="true" sz="7327" spc="688">
                <a:solidFill>
                  <a:srgbClr val="EDE8E4"/>
                </a:solidFill>
                <a:latin typeface="Glacial Indifference Bold"/>
                <a:ea typeface="Glacial Indifference Bold"/>
                <a:cs typeface="Glacial Indifference Bold"/>
                <a:sym typeface="Glacial Indifference Bold"/>
              </a:rPr>
              <a:t>LET’S MAKE IT HAPPEN!</a:t>
            </a:r>
          </a:p>
        </p:txBody>
      </p:sp>
      <p:sp>
        <p:nvSpPr>
          <p:cNvPr name="AutoShape 3" id="3"/>
          <p:cNvSpPr/>
          <p:nvPr/>
        </p:nvSpPr>
        <p:spPr>
          <a:xfrm flipV="true">
            <a:off x="1478627" y="1685723"/>
            <a:ext cx="0" cy="6915554"/>
          </a:xfrm>
          <a:prstGeom prst="line">
            <a:avLst/>
          </a:prstGeom>
          <a:ln cap="flat" w="66675">
            <a:solidFill>
              <a:srgbClr val="E3D8D4"/>
            </a:solidFill>
            <a:prstDash val="solid"/>
            <a:headEnd type="none" len="sm" w="sm"/>
            <a:tailEnd type="none" len="sm" w="sm"/>
          </a:ln>
        </p:spPr>
      </p:sp>
      <p:sp>
        <p:nvSpPr>
          <p:cNvPr name="TextBox 4" id="4"/>
          <p:cNvSpPr txBox="true"/>
          <p:nvPr/>
        </p:nvSpPr>
        <p:spPr>
          <a:xfrm rot="0">
            <a:off x="1732801" y="4477907"/>
            <a:ext cx="9034884" cy="3737997"/>
          </a:xfrm>
          <a:prstGeom prst="rect">
            <a:avLst/>
          </a:prstGeom>
        </p:spPr>
        <p:txBody>
          <a:bodyPr anchor="t" rtlCol="false" tIns="0" lIns="0" bIns="0" rIns="0">
            <a:spAutoFit/>
          </a:bodyPr>
          <a:lstStyle/>
          <a:p>
            <a:pPr algn="l">
              <a:lnSpc>
                <a:spcPts val="4278"/>
              </a:lnSpc>
            </a:pPr>
            <a:r>
              <a:rPr lang="en-US" sz="3056" spc="67">
                <a:solidFill>
                  <a:srgbClr val="EDE8E4"/>
                </a:solidFill>
                <a:latin typeface="Glacial Indifference"/>
                <a:ea typeface="Glacial Indifference"/>
                <a:cs typeface="Glacial Indifference"/>
                <a:sym typeface="Glacial Indifference"/>
              </a:rPr>
              <a:t>Inv</a:t>
            </a:r>
            <a:r>
              <a:rPr lang="en-US" sz="3056" spc="67" strike="noStrike" u="none">
                <a:solidFill>
                  <a:srgbClr val="EDE8E4"/>
                </a:solidFill>
                <a:latin typeface="Glacial Indifference"/>
                <a:ea typeface="Glacial Indifference"/>
                <a:cs typeface="Glacial Indifference"/>
                <a:sym typeface="Glacial Indifference"/>
              </a:rPr>
              <a:t>esting in this business trip is investing in our future. The knowledge, connections, and inspiration we will gain are invaluable. I strongly recommend approving this trip to position our company at the forefront of innovation.</a:t>
            </a:r>
          </a:p>
          <a:p>
            <a:pPr algn="l">
              <a:lnSpc>
                <a:spcPts val="4278"/>
              </a:lnSpc>
            </a:pPr>
            <a:r>
              <a:rPr lang="en-US" sz="3056" spc="67" strike="noStrike" u="none">
                <a:solidFill>
                  <a:srgbClr val="EDE8E4"/>
                </a:solidFill>
                <a:latin typeface="Glacial Indifference"/>
                <a:ea typeface="Glacial Indifference"/>
                <a:cs typeface="Glacial Indifference"/>
                <a:sym typeface="Glacial Indifference"/>
              </a:rPr>
              <a:t>Thank you for your consideration. I look forward to your positive response.</a:t>
            </a:r>
          </a:p>
        </p:txBody>
      </p:sp>
      <p:sp>
        <p:nvSpPr>
          <p:cNvPr name="Freeform 5" id="5"/>
          <p:cNvSpPr/>
          <p:nvPr/>
        </p:nvSpPr>
        <p:spPr>
          <a:xfrm flipH="false" flipV="false" rot="5400000">
            <a:off x="8502801" y="331078"/>
            <a:ext cx="10116277" cy="9454121"/>
          </a:xfrm>
          <a:custGeom>
            <a:avLst/>
            <a:gdLst/>
            <a:ahLst/>
            <a:cxnLst/>
            <a:rect r="r" b="b" t="t" l="l"/>
            <a:pathLst>
              <a:path h="9454121" w="10116277">
                <a:moveTo>
                  <a:pt x="0" y="0"/>
                </a:moveTo>
                <a:lnTo>
                  <a:pt x="10116277" y="0"/>
                </a:lnTo>
                <a:lnTo>
                  <a:pt x="10116277" y="9454121"/>
                </a:lnTo>
                <a:lnTo>
                  <a:pt x="0" y="94541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6" id="6"/>
          <p:cNvSpPr/>
          <p:nvPr/>
        </p:nvSpPr>
        <p:spPr>
          <a:xfrm flipH="false" flipV="false" rot="0">
            <a:off x="11595043" y="3146302"/>
            <a:ext cx="5946076" cy="4972426"/>
          </a:xfrm>
          <a:custGeom>
            <a:avLst/>
            <a:gdLst/>
            <a:ahLst/>
            <a:cxnLst/>
            <a:rect r="r" b="b" t="t" l="l"/>
            <a:pathLst>
              <a:path h="4972426" w="5946076">
                <a:moveTo>
                  <a:pt x="0" y="0"/>
                </a:moveTo>
                <a:lnTo>
                  <a:pt x="5946076" y="0"/>
                </a:lnTo>
                <a:lnTo>
                  <a:pt x="5946076" y="4972425"/>
                </a:lnTo>
                <a:lnTo>
                  <a:pt x="0" y="4972425"/>
                </a:lnTo>
                <a:lnTo>
                  <a:pt x="0" y="0"/>
                </a:lnTo>
                <a:close/>
              </a:path>
            </a:pathLst>
          </a:custGeom>
          <a:blipFill>
            <a:blip r:embed="rId4"/>
            <a:stretch>
              <a:fillRect l="-12565" t="0" r="-12565"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DAHUfuc7ltc</dc:identifier>
  <dcterms:modified xsi:type="dcterms:W3CDTF">2011-08-01T06:04:30Z</dcterms:modified>
  <cp:revision>1</cp:revision>
  <dc:title>Presentación proyecto de negocio formas orgánicas profesional azul y beis</dc:title>
</cp:coreProperties>
</file>